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1" r:id="rId5"/>
    <p:sldId id="262" r:id="rId6"/>
    <p:sldId id="263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3" r:id="rId15"/>
    <p:sldId id="272" r:id="rId16"/>
    <p:sldId id="275" r:id="rId17"/>
    <p:sldId id="276" r:id="rId18"/>
    <p:sldId id="277" r:id="rId19"/>
    <p:sldId id="279" r:id="rId20"/>
    <p:sldId id="285" r:id="rId21"/>
    <p:sldId id="286" r:id="rId22"/>
    <p:sldId id="287" r:id="rId23"/>
    <p:sldId id="280" r:id="rId24"/>
    <p:sldId id="281" r:id="rId25"/>
    <p:sldId id="282" r:id="rId26"/>
    <p:sldId id="283" r:id="rId27"/>
    <p:sldId id="284" r:id="rId28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A2A419-A2F6-456E-99C7-5E761FCEB6E1}" v="1" dt="2026-07-01T15:52:35.1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สไตล์สีปานกลาง 2 - เน้น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son Trachu" userId="8b674c4b66ffeb50" providerId="LiveId" clId="{8E4B071D-57E5-4EC9-B683-69A844FB22FC}"/>
    <pc:docChg chg="undo custSel addSld modSld">
      <pc:chgData name="Koson Trachu" userId="8b674c4b66ffeb50" providerId="LiveId" clId="{8E4B071D-57E5-4EC9-B683-69A844FB22FC}" dt="2026-07-01T15:52:40.395" v="156" actId="6549"/>
      <pc:docMkLst>
        <pc:docMk/>
      </pc:docMkLst>
      <pc:sldChg chg="modSp mod">
        <pc:chgData name="Koson Trachu" userId="8b674c4b66ffeb50" providerId="LiveId" clId="{8E4B071D-57E5-4EC9-B683-69A844FB22FC}" dt="2026-07-01T15:51:12.261" v="132" actId="20577"/>
        <pc:sldMkLst>
          <pc:docMk/>
          <pc:sldMk cId="3590029574" sldId="262"/>
        </pc:sldMkLst>
        <pc:spChg chg="mod">
          <ac:chgData name="Koson Trachu" userId="8b674c4b66ffeb50" providerId="LiveId" clId="{8E4B071D-57E5-4EC9-B683-69A844FB22FC}" dt="2026-07-01T15:51:12.261" v="132" actId="20577"/>
          <ac:spMkLst>
            <pc:docMk/>
            <pc:sldMk cId="3590029574" sldId="262"/>
            <ac:spMk id="3" creationId="{A64BB3EC-757F-63B3-5907-B8AB7507EFE9}"/>
          </ac:spMkLst>
        </pc:spChg>
      </pc:sldChg>
      <pc:sldChg chg="modSp mod">
        <pc:chgData name="Koson Trachu" userId="8b674c4b66ffeb50" providerId="LiveId" clId="{8E4B071D-57E5-4EC9-B683-69A844FB22FC}" dt="2026-07-01T15:42:31.851" v="1" actId="20577"/>
        <pc:sldMkLst>
          <pc:docMk/>
          <pc:sldMk cId="3436851357" sldId="265"/>
        </pc:sldMkLst>
        <pc:spChg chg="mod">
          <ac:chgData name="Koson Trachu" userId="8b674c4b66ffeb50" providerId="LiveId" clId="{8E4B071D-57E5-4EC9-B683-69A844FB22FC}" dt="2026-07-01T15:42:31.851" v="1" actId="20577"/>
          <ac:spMkLst>
            <pc:docMk/>
            <pc:sldMk cId="3436851357" sldId="265"/>
            <ac:spMk id="5" creationId="{FD550AA8-FB20-C7D0-8822-AD534C1E2F77}"/>
          </ac:spMkLst>
        </pc:spChg>
      </pc:sldChg>
      <pc:sldChg chg="modSp mod">
        <pc:chgData name="Koson Trachu" userId="8b674c4b66ffeb50" providerId="LiveId" clId="{8E4B071D-57E5-4EC9-B683-69A844FB22FC}" dt="2026-07-01T15:42:49.570" v="4" actId="20577"/>
        <pc:sldMkLst>
          <pc:docMk/>
          <pc:sldMk cId="871711145" sldId="266"/>
        </pc:sldMkLst>
        <pc:spChg chg="mod">
          <ac:chgData name="Koson Trachu" userId="8b674c4b66ffeb50" providerId="LiveId" clId="{8E4B071D-57E5-4EC9-B683-69A844FB22FC}" dt="2026-07-01T15:42:49.570" v="4" actId="20577"/>
          <ac:spMkLst>
            <pc:docMk/>
            <pc:sldMk cId="871711145" sldId="266"/>
            <ac:spMk id="5" creationId="{40350677-CB54-6DF6-54B7-B309138B2892}"/>
          </ac:spMkLst>
        </pc:spChg>
      </pc:sldChg>
      <pc:sldChg chg="modSp mod">
        <pc:chgData name="Koson Trachu" userId="8b674c4b66ffeb50" providerId="LiveId" clId="{8E4B071D-57E5-4EC9-B683-69A844FB22FC}" dt="2026-07-01T15:43:01.643" v="7" actId="20577"/>
        <pc:sldMkLst>
          <pc:docMk/>
          <pc:sldMk cId="4036662656" sldId="267"/>
        </pc:sldMkLst>
        <pc:spChg chg="mod">
          <ac:chgData name="Koson Trachu" userId="8b674c4b66ffeb50" providerId="LiveId" clId="{8E4B071D-57E5-4EC9-B683-69A844FB22FC}" dt="2026-07-01T15:43:01.643" v="7" actId="20577"/>
          <ac:spMkLst>
            <pc:docMk/>
            <pc:sldMk cId="4036662656" sldId="267"/>
            <ac:spMk id="6" creationId="{C99A91E4-B936-4923-3628-6890732ED178}"/>
          </ac:spMkLst>
        </pc:spChg>
      </pc:sldChg>
      <pc:sldChg chg="modSp mod">
        <pc:chgData name="Koson Trachu" userId="8b674c4b66ffeb50" providerId="LiveId" clId="{8E4B071D-57E5-4EC9-B683-69A844FB22FC}" dt="2026-07-01T15:43:12.169" v="11" actId="20577"/>
        <pc:sldMkLst>
          <pc:docMk/>
          <pc:sldMk cId="3599903785" sldId="268"/>
        </pc:sldMkLst>
        <pc:spChg chg="mod">
          <ac:chgData name="Koson Trachu" userId="8b674c4b66ffeb50" providerId="LiveId" clId="{8E4B071D-57E5-4EC9-B683-69A844FB22FC}" dt="2026-07-01T15:43:12.169" v="11" actId="20577"/>
          <ac:spMkLst>
            <pc:docMk/>
            <pc:sldMk cId="3599903785" sldId="268"/>
            <ac:spMk id="5" creationId="{9866FCF7-4A83-9053-EE99-9DBA1798620C}"/>
          </ac:spMkLst>
        </pc:spChg>
      </pc:sldChg>
      <pc:sldChg chg="modSp mod">
        <pc:chgData name="Koson Trachu" userId="8b674c4b66ffeb50" providerId="LiveId" clId="{8E4B071D-57E5-4EC9-B683-69A844FB22FC}" dt="2026-07-01T15:43:22.468" v="15" actId="20577"/>
        <pc:sldMkLst>
          <pc:docMk/>
          <pc:sldMk cId="3040962946" sldId="269"/>
        </pc:sldMkLst>
        <pc:spChg chg="mod">
          <ac:chgData name="Koson Trachu" userId="8b674c4b66ffeb50" providerId="LiveId" clId="{8E4B071D-57E5-4EC9-B683-69A844FB22FC}" dt="2026-07-01T15:43:22.468" v="15" actId="20577"/>
          <ac:spMkLst>
            <pc:docMk/>
            <pc:sldMk cId="3040962946" sldId="269"/>
            <ac:spMk id="5" creationId="{361447F0-2F06-5FF7-744A-600AC70B9A5D}"/>
          </ac:spMkLst>
        </pc:spChg>
      </pc:sldChg>
      <pc:sldChg chg="modSp mod">
        <pc:chgData name="Koson Trachu" userId="8b674c4b66ffeb50" providerId="LiveId" clId="{8E4B071D-57E5-4EC9-B683-69A844FB22FC}" dt="2026-07-01T15:43:33.284" v="18" actId="20577"/>
        <pc:sldMkLst>
          <pc:docMk/>
          <pc:sldMk cId="3238134617" sldId="270"/>
        </pc:sldMkLst>
        <pc:spChg chg="mod">
          <ac:chgData name="Koson Trachu" userId="8b674c4b66ffeb50" providerId="LiveId" clId="{8E4B071D-57E5-4EC9-B683-69A844FB22FC}" dt="2026-07-01T15:43:33.284" v="18" actId="20577"/>
          <ac:spMkLst>
            <pc:docMk/>
            <pc:sldMk cId="3238134617" sldId="270"/>
            <ac:spMk id="5" creationId="{ED91C332-EDA0-B259-7D46-06BE83EAF925}"/>
          </ac:spMkLst>
        </pc:spChg>
      </pc:sldChg>
      <pc:sldChg chg="modSp mod">
        <pc:chgData name="Koson Trachu" userId="8b674c4b66ffeb50" providerId="LiveId" clId="{8E4B071D-57E5-4EC9-B683-69A844FB22FC}" dt="2026-07-01T15:43:50.693" v="21" actId="20577"/>
        <pc:sldMkLst>
          <pc:docMk/>
          <pc:sldMk cId="3985237345" sldId="271"/>
        </pc:sldMkLst>
        <pc:spChg chg="mod">
          <ac:chgData name="Koson Trachu" userId="8b674c4b66ffeb50" providerId="LiveId" clId="{8E4B071D-57E5-4EC9-B683-69A844FB22FC}" dt="2026-07-01T15:43:50.693" v="21" actId="20577"/>
          <ac:spMkLst>
            <pc:docMk/>
            <pc:sldMk cId="3985237345" sldId="271"/>
            <ac:spMk id="5" creationId="{3C069D21-6B71-7242-6599-859DF545ECE7}"/>
          </ac:spMkLst>
        </pc:spChg>
      </pc:sldChg>
      <pc:sldChg chg="modSp mod">
        <pc:chgData name="Koson Trachu" userId="8b674c4b66ffeb50" providerId="LiveId" clId="{8E4B071D-57E5-4EC9-B683-69A844FB22FC}" dt="2026-07-01T15:48:04.203" v="44" actId="20577"/>
        <pc:sldMkLst>
          <pc:docMk/>
          <pc:sldMk cId="796751290" sldId="272"/>
        </pc:sldMkLst>
        <pc:spChg chg="mod">
          <ac:chgData name="Koson Trachu" userId="8b674c4b66ffeb50" providerId="LiveId" clId="{8E4B071D-57E5-4EC9-B683-69A844FB22FC}" dt="2026-07-01T15:48:04.203" v="44" actId="20577"/>
          <ac:spMkLst>
            <pc:docMk/>
            <pc:sldMk cId="796751290" sldId="272"/>
            <ac:spMk id="5" creationId="{8E6F5FA8-3E69-CE1E-21ED-0846F686C54B}"/>
          </ac:spMkLst>
        </pc:spChg>
      </pc:sldChg>
      <pc:sldChg chg="modSp mod">
        <pc:chgData name="Koson Trachu" userId="8b674c4b66ffeb50" providerId="LiveId" clId="{8E4B071D-57E5-4EC9-B683-69A844FB22FC}" dt="2026-07-01T15:47:33.912" v="40" actId="20577"/>
        <pc:sldMkLst>
          <pc:docMk/>
          <pc:sldMk cId="1338310598" sldId="273"/>
        </pc:sldMkLst>
        <pc:spChg chg="mod">
          <ac:chgData name="Koson Trachu" userId="8b674c4b66ffeb50" providerId="LiveId" clId="{8E4B071D-57E5-4EC9-B683-69A844FB22FC}" dt="2026-07-01T15:47:14.804" v="36" actId="20577"/>
          <ac:spMkLst>
            <pc:docMk/>
            <pc:sldMk cId="1338310598" sldId="273"/>
            <ac:spMk id="3" creationId="{A3DE4CF6-FF45-0DE0-E766-D91ECBDE51CF}"/>
          </ac:spMkLst>
        </pc:spChg>
        <pc:spChg chg="mod">
          <ac:chgData name="Koson Trachu" userId="8b674c4b66ffeb50" providerId="LiveId" clId="{8E4B071D-57E5-4EC9-B683-69A844FB22FC}" dt="2026-07-01T15:47:33.912" v="40" actId="20577"/>
          <ac:spMkLst>
            <pc:docMk/>
            <pc:sldMk cId="1338310598" sldId="273"/>
            <ac:spMk id="5" creationId="{39F57A81-3E59-5F03-02A3-750F0B30FED1}"/>
          </ac:spMkLst>
        </pc:spChg>
      </pc:sldChg>
      <pc:sldChg chg="modSp mod">
        <pc:chgData name="Koson Trachu" userId="8b674c4b66ffeb50" providerId="LiveId" clId="{8E4B071D-57E5-4EC9-B683-69A844FB22FC}" dt="2026-07-01T15:48:21.220" v="46" actId="20577"/>
        <pc:sldMkLst>
          <pc:docMk/>
          <pc:sldMk cId="3162864918" sldId="275"/>
        </pc:sldMkLst>
        <pc:spChg chg="mod">
          <ac:chgData name="Koson Trachu" userId="8b674c4b66ffeb50" providerId="LiveId" clId="{8E4B071D-57E5-4EC9-B683-69A844FB22FC}" dt="2026-07-01T15:48:21.220" v="46" actId="20577"/>
          <ac:spMkLst>
            <pc:docMk/>
            <pc:sldMk cId="3162864918" sldId="275"/>
            <ac:spMk id="5" creationId="{511224CB-06A9-C2AB-C575-176C1B9A7A2D}"/>
          </ac:spMkLst>
        </pc:spChg>
      </pc:sldChg>
      <pc:sldChg chg="modSp mod">
        <pc:chgData name="Koson Trachu" userId="8b674c4b66ffeb50" providerId="LiveId" clId="{8E4B071D-57E5-4EC9-B683-69A844FB22FC}" dt="2026-07-01T15:48:29.714" v="48" actId="20577"/>
        <pc:sldMkLst>
          <pc:docMk/>
          <pc:sldMk cId="200064893" sldId="276"/>
        </pc:sldMkLst>
        <pc:spChg chg="mod">
          <ac:chgData name="Koson Trachu" userId="8b674c4b66ffeb50" providerId="LiveId" clId="{8E4B071D-57E5-4EC9-B683-69A844FB22FC}" dt="2026-07-01T15:48:29.714" v="48" actId="20577"/>
          <ac:spMkLst>
            <pc:docMk/>
            <pc:sldMk cId="200064893" sldId="276"/>
            <ac:spMk id="5" creationId="{88944144-6777-FDE0-60AD-DD2F845B0FD1}"/>
          </ac:spMkLst>
        </pc:spChg>
      </pc:sldChg>
      <pc:sldChg chg="modSp mod">
        <pc:chgData name="Koson Trachu" userId="8b674c4b66ffeb50" providerId="LiveId" clId="{8E4B071D-57E5-4EC9-B683-69A844FB22FC}" dt="2026-07-01T15:48:37.098" v="50" actId="20577"/>
        <pc:sldMkLst>
          <pc:docMk/>
          <pc:sldMk cId="3576856218" sldId="277"/>
        </pc:sldMkLst>
        <pc:spChg chg="mod">
          <ac:chgData name="Koson Trachu" userId="8b674c4b66ffeb50" providerId="LiveId" clId="{8E4B071D-57E5-4EC9-B683-69A844FB22FC}" dt="2026-07-01T15:48:37.098" v="50" actId="20577"/>
          <ac:spMkLst>
            <pc:docMk/>
            <pc:sldMk cId="3576856218" sldId="277"/>
            <ac:spMk id="5" creationId="{F40F392C-4CD7-BF09-264D-F0161AE8BC10}"/>
          </ac:spMkLst>
        </pc:spChg>
      </pc:sldChg>
      <pc:sldChg chg="modSp mod">
        <pc:chgData name="Koson Trachu" userId="8b674c4b66ffeb50" providerId="LiveId" clId="{8E4B071D-57E5-4EC9-B683-69A844FB22FC}" dt="2026-07-01T15:48:45.487" v="52" actId="20577"/>
        <pc:sldMkLst>
          <pc:docMk/>
          <pc:sldMk cId="4285979732" sldId="279"/>
        </pc:sldMkLst>
        <pc:spChg chg="mod">
          <ac:chgData name="Koson Trachu" userId="8b674c4b66ffeb50" providerId="LiveId" clId="{8E4B071D-57E5-4EC9-B683-69A844FB22FC}" dt="2026-07-01T15:48:45.487" v="52" actId="20577"/>
          <ac:spMkLst>
            <pc:docMk/>
            <pc:sldMk cId="4285979732" sldId="279"/>
            <ac:spMk id="5" creationId="{542A13D7-4C69-47B7-C3FC-642F92C8A82C}"/>
          </ac:spMkLst>
        </pc:spChg>
      </pc:sldChg>
      <pc:sldChg chg="modSp mod">
        <pc:chgData name="Koson Trachu" userId="8b674c4b66ffeb50" providerId="LiveId" clId="{8E4B071D-57E5-4EC9-B683-69A844FB22FC}" dt="2026-07-01T15:50:13.010" v="94" actId="20577"/>
        <pc:sldMkLst>
          <pc:docMk/>
          <pc:sldMk cId="3648279797" sldId="280"/>
        </pc:sldMkLst>
        <pc:spChg chg="mod">
          <ac:chgData name="Koson Trachu" userId="8b674c4b66ffeb50" providerId="LiveId" clId="{8E4B071D-57E5-4EC9-B683-69A844FB22FC}" dt="2026-07-01T15:49:58.118" v="87" actId="20577"/>
          <ac:spMkLst>
            <pc:docMk/>
            <pc:sldMk cId="3648279797" sldId="280"/>
            <ac:spMk id="3" creationId="{A3DE4CF6-FF45-0DE0-E766-D91ECBDE51CF}"/>
          </ac:spMkLst>
        </pc:spChg>
        <pc:spChg chg="mod">
          <ac:chgData name="Koson Trachu" userId="8b674c4b66ffeb50" providerId="LiveId" clId="{8E4B071D-57E5-4EC9-B683-69A844FB22FC}" dt="2026-07-01T15:50:13.010" v="94" actId="20577"/>
          <ac:spMkLst>
            <pc:docMk/>
            <pc:sldMk cId="3648279797" sldId="280"/>
            <ac:spMk id="5" creationId="{1D7CC51D-2C8E-5F7D-2ACD-4918CB1FC62E}"/>
          </ac:spMkLst>
        </pc:spChg>
      </pc:sldChg>
      <pc:sldChg chg="modSp mod">
        <pc:chgData name="Koson Trachu" userId="8b674c4b66ffeb50" providerId="LiveId" clId="{8E4B071D-57E5-4EC9-B683-69A844FB22FC}" dt="2026-07-01T15:52:40.395" v="156" actId="6549"/>
        <pc:sldMkLst>
          <pc:docMk/>
          <pc:sldMk cId="879133700" sldId="281"/>
        </pc:sldMkLst>
        <pc:spChg chg="mod">
          <ac:chgData name="Koson Trachu" userId="8b674c4b66ffeb50" providerId="LiveId" clId="{8E4B071D-57E5-4EC9-B683-69A844FB22FC}" dt="2026-07-01T15:52:40.395" v="156" actId="6549"/>
          <ac:spMkLst>
            <pc:docMk/>
            <pc:sldMk cId="879133700" sldId="281"/>
            <ac:spMk id="3" creationId="{A3DE4CF6-FF45-0DE0-E766-D91ECBDE51CF}"/>
          </ac:spMkLst>
        </pc:spChg>
      </pc:sldChg>
      <pc:sldChg chg="modSp mod">
        <pc:chgData name="Koson Trachu" userId="8b674c4b66ffeb50" providerId="LiveId" clId="{8E4B071D-57E5-4EC9-B683-69A844FB22FC}" dt="2026-07-01T15:49:14.519" v="61" actId="20577"/>
        <pc:sldMkLst>
          <pc:docMk/>
          <pc:sldMk cId="154189236" sldId="285"/>
        </pc:sldMkLst>
        <pc:spChg chg="mod">
          <ac:chgData name="Koson Trachu" userId="8b674c4b66ffeb50" providerId="LiveId" clId="{8E4B071D-57E5-4EC9-B683-69A844FB22FC}" dt="2026-07-01T15:49:14.519" v="61" actId="20577"/>
          <ac:spMkLst>
            <pc:docMk/>
            <pc:sldMk cId="154189236" sldId="285"/>
            <ac:spMk id="5" creationId="{93D08175-52D2-10AF-FF4C-CA01321704BF}"/>
          </ac:spMkLst>
        </pc:spChg>
      </pc:sldChg>
      <pc:sldChg chg="modSp mod">
        <pc:chgData name="Koson Trachu" userId="8b674c4b66ffeb50" providerId="LiveId" clId="{8E4B071D-57E5-4EC9-B683-69A844FB22FC}" dt="2026-07-01T15:49:10.863" v="59" actId="20577"/>
        <pc:sldMkLst>
          <pc:docMk/>
          <pc:sldMk cId="1619655444" sldId="286"/>
        </pc:sldMkLst>
        <pc:spChg chg="mod">
          <ac:chgData name="Koson Trachu" userId="8b674c4b66ffeb50" providerId="LiveId" clId="{8E4B071D-57E5-4EC9-B683-69A844FB22FC}" dt="2026-07-01T15:49:10.863" v="59" actId="20577"/>
          <ac:spMkLst>
            <pc:docMk/>
            <pc:sldMk cId="1619655444" sldId="286"/>
            <ac:spMk id="5" creationId="{D9F9B4E1-86A9-3E83-EB75-85466E2DEC46}"/>
          </ac:spMkLst>
        </pc:spChg>
      </pc:sldChg>
      <pc:sldChg chg="modSp add mod">
        <pc:chgData name="Koson Trachu" userId="8b674c4b66ffeb50" providerId="LiveId" clId="{8E4B071D-57E5-4EC9-B683-69A844FB22FC}" dt="2026-07-01T15:50:46.179" v="131" actId="20577"/>
        <pc:sldMkLst>
          <pc:docMk/>
          <pc:sldMk cId="3301098111" sldId="287"/>
        </pc:sldMkLst>
        <pc:spChg chg="mod">
          <ac:chgData name="Koson Trachu" userId="8b674c4b66ffeb50" providerId="LiveId" clId="{8E4B071D-57E5-4EC9-B683-69A844FB22FC}" dt="2026-07-01T15:50:34.147" v="110" actId="20577"/>
          <ac:spMkLst>
            <pc:docMk/>
            <pc:sldMk cId="3301098111" sldId="287"/>
            <ac:spMk id="2" creationId="{B2E56C1D-4FB2-6C07-FF94-316E696A506E}"/>
          </ac:spMkLst>
        </pc:spChg>
        <pc:spChg chg="mod">
          <ac:chgData name="Koson Trachu" userId="8b674c4b66ffeb50" providerId="LiveId" clId="{8E4B071D-57E5-4EC9-B683-69A844FB22FC}" dt="2026-07-01T15:50:46.179" v="131" actId="20577"/>
          <ac:spMkLst>
            <pc:docMk/>
            <pc:sldMk cId="3301098111" sldId="287"/>
            <ac:spMk id="3" creationId="{821FFDAF-3725-6027-1055-F8E2702F7AEE}"/>
          </ac:spMkLst>
        </pc:spChg>
        <pc:spChg chg="mod">
          <ac:chgData name="Koson Trachu" userId="8b674c4b66ffeb50" providerId="LiveId" clId="{8E4B071D-57E5-4EC9-B683-69A844FB22FC}" dt="2026-07-01T15:49:27.271" v="63" actId="20577"/>
          <ac:spMkLst>
            <pc:docMk/>
            <pc:sldMk cId="3301098111" sldId="287"/>
            <ac:spMk id="4" creationId="{FC576332-5BE4-1348-64BE-DA9D7548F69F}"/>
          </ac:spMkLst>
        </pc:spChg>
        <pc:spChg chg="mod">
          <ac:chgData name="Koson Trachu" userId="8b674c4b66ffeb50" providerId="LiveId" clId="{8E4B071D-57E5-4EC9-B683-69A844FB22FC}" dt="2026-07-01T15:49:31.210" v="65" actId="20577"/>
          <ac:spMkLst>
            <pc:docMk/>
            <pc:sldMk cId="3301098111" sldId="287"/>
            <ac:spMk id="5" creationId="{2BFE738A-AA1D-707E-05AF-8BBCC2DCBA4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23AD89D4-597C-95DA-37E5-37B84F4574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6304FBC6-02B0-7602-427E-E7E3EB2220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77BDC8A7-0F4A-E3C4-85F8-F3E043D1B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C1538-8C98-4875-B6F9-9E8B91097087}" type="datetimeFigureOut">
              <a:rPr lang="th-TH" smtClean="0"/>
              <a:t>01/07/69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E8C38B82-D79F-3653-A5C2-787055952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BF455073-48BB-8071-B0AC-EBC3A1258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42FB5-5029-45EA-9A69-926BB8BA5C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19164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57C445DE-F7B1-9D42-8C67-908D438F1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DB54ECFE-E893-9CAD-4640-5B3A96B9A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E4F9B173-10FE-E6DA-1280-75141CD20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C1538-8C98-4875-B6F9-9E8B91097087}" type="datetimeFigureOut">
              <a:rPr lang="th-TH" smtClean="0"/>
              <a:t>01/07/69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844D1293-952D-A9DE-6975-907EC690E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70A9C976-21D3-0E00-E3B4-278441F41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42FB5-5029-45EA-9A69-926BB8BA5C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00722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C84CC75E-F6BC-CC85-B353-2627B9271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8921235E-F459-260F-00F5-417BEF90D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B4A180EE-DF14-62C6-3B3C-677FFADFF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C1538-8C98-4875-B6F9-9E8B91097087}" type="datetimeFigureOut">
              <a:rPr lang="th-TH" smtClean="0"/>
              <a:t>01/07/69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09D4482A-27E2-ED42-555F-A0A030A2E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CE2A1086-79FB-9477-64C7-59ECE3797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42FB5-5029-45EA-9A69-926BB8BA5C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35088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2B4949F4-4DE4-5716-5E59-B75341E87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C44EC94E-D2A9-D212-613E-40E92AD42F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8E8DF3DE-C94C-0079-2763-3BE53DE462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4B7AF367-867F-5F6A-4905-1A9635C1B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C1538-8C98-4875-B6F9-9E8B91097087}" type="datetimeFigureOut">
              <a:rPr lang="th-TH" smtClean="0"/>
              <a:t>01/07/69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7A9FA14C-A89A-1ABC-F161-0B6231494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498098E5-03E9-7B5C-0A5F-BDB162B74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42FB5-5029-45EA-9A69-926BB8BA5C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1042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CA7FC808-35E8-2DD5-8B85-B3DB4ADC0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3F52CBAF-074A-924E-4775-4BF8A2A1B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95D2EA15-D219-7863-FA0E-3D5EDAE0C6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ข้อความ 4">
            <a:extLst>
              <a:ext uri="{FF2B5EF4-FFF2-40B4-BE49-F238E27FC236}">
                <a16:creationId xmlns:a16="http://schemas.microsoft.com/office/drawing/2014/main" id="{F5769578-F641-DF68-FB5D-9914B63CE1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>
            <a:extLst>
              <a:ext uri="{FF2B5EF4-FFF2-40B4-BE49-F238E27FC236}">
                <a16:creationId xmlns:a16="http://schemas.microsoft.com/office/drawing/2014/main" id="{7E362AF0-6B96-2F11-7A45-BD02A295CE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7" name="ตัวแทนวันที่ 6">
            <a:extLst>
              <a:ext uri="{FF2B5EF4-FFF2-40B4-BE49-F238E27FC236}">
                <a16:creationId xmlns:a16="http://schemas.microsoft.com/office/drawing/2014/main" id="{F94B6FD8-22DF-082C-5233-627BE584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C1538-8C98-4875-B6F9-9E8B91097087}" type="datetimeFigureOut">
              <a:rPr lang="th-TH" smtClean="0"/>
              <a:t>01/07/69</a:t>
            </a:fld>
            <a:endParaRPr lang="th-TH"/>
          </a:p>
        </p:txBody>
      </p:sp>
      <p:sp>
        <p:nvSpPr>
          <p:cNvPr id="8" name="ตัวแทนท้ายกระดาษ 7">
            <a:extLst>
              <a:ext uri="{FF2B5EF4-FFF2-40B4-BE49-F238E27FC236}">
                <a16:creationId xmlns:a16="http://schemas.microsoft.com/office/drawing/2014/main" id="{77E0A273-D83A-F3DC-AC74-A615F95B9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A9DB6FC3-7B29-5A32-3B0E-09B59A022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42FB5-5029-45EA-9A69-926BB8BA5C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95388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CB062AEF-4326-1231-C749-4330CD390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FA2D42DA-EA0E-2AE8-96AE-031C616C4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C1538-8C98-4875-B6F9-9E8B91097087}" type="datetimeFigureOut">
              <a:rPr lang="th-TH" smtClean="0"/>
              <a:t>01/07/69</a:t>
            </a:fld>
            <a:endParaRPr lang="th-TH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CF1BCE6A-09ED-BBBD-5AEB-3BEB44E73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97635A4C-3668-2DA5-E694-9F9D5CFE5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42FB5-5029-45EA-9A69-926BB8BA5C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5781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>
            <a:extLst>
              <a:ext uri="{FF2B5EF4-FFF2-40B4-BE49-F238E27FC236}">
                <a16:creationId xmlns:a16="http://schemas.microsoft.com/office/drawing/2014/main" id="{4FE5329F-AC61-DD00-94EF-6E7ACB2E7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C1538-8C98-4875-B6F9-9E8B91097087}" type="datetimeFigureOut">
              <a:rPr lang="th-TH" smtClean="0"/>
              <a:t>01/07/69</a:t>
            </a:fld>
            <a:endParaRPr lang="th-TH"/>
          </a:p>
        </p:txBody>
      </p:sp>
      <p:sp>
        <p:nvSpPr>
          <p:cNvPr id="3" name="ตัวแทนท้ายกระดาษ 2">
            <a:extLst>
              <a:ext uri="{FF2B5EF4-FFF2-40B4-BE49-F238E27FC236}">
                <a16:creationId xmlns:a16="http://schemas.microsoft.com/office/drawing/2014/main" id="{52BD09A1-BD3E-4044-DC40-EAA4A52FE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9393646E-AB09-BFFF-449A-2CCB5A81E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42FB5-5029-45EA-9A69-926BB8BA5C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10601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7C6ACCF-44C3-A370-CDD4-4984E9AB7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885F1E6-9803-3CDC-068A-AA1C2D71D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292EE6E0-61FC-0F47-8060-CDE5ACC78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AFB1C9D4-7B57-EF86-E52D-0626C841E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C1538-8C98-4875-B6F9-9E8B91097087}" type="datetimeFigureOut">
              <a:rPr lang="th-TH" smtClean="0"/>
              <a:t>01/07/69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C4041A53-1D1C-8937-9605-6F115FD0B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94B1827E-E1FE-9E47-3933-74FD30E5C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42FB5-5029-45EA-9A69-926BB8BA5C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99178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C8A294FE-BB24-A6C4-9949-061A59690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รูปภาพ 2">
            <a:extLst>
              <a:ext uri="{FF2B5EF4-FFF2-40B4-BE49-F238E27FC236}">
                <a16:creationId xmlns:a16="http://schemas.microsoft.com/office/drawing/2014/main" id="{CED7A592-BE3B-EADA-9738-78399CFCF4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C2A9A03D-E536-9F68-6D49-D4A7FD3268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1E10BBD8-BBFC-F847-73DA-260AEA505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C1538-8C98-4875-B6F9-9E8B91097087}" type="datetimeFigureOut">
              <a:rPr lang="th-TH" smtClean="0"/>
              <a:t>01/07/69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5FB08E4A-5893-D142-C0E1-25550985D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CBCE0801-8EE3-A24B-79D6-D4E139B64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42FB5-5029-45EA-9A69-926BB8BA5C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54758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E710015D-2FA7-8BF3-A5B5-028E2A4A9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9C9DB246-37EA-59CD-1DEC-499D3E2055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D16630BE-5FEC-75CD-D894-44EB592AF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C1538-8C98-4875-B6F9-9E8B91097087}" type="datetimeFigureOut">
              <a:rPr lang="th-TH" smtClean="0"/>
              <a:t>01/07/69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2FBD77AA-C4E6-7E09-4508-15752EAA1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07C039FA-C22E-E822-BB87-CF196C826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42FB5-5029-45EA-9A69-926BB8BA5C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6720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>
            <a:extLst>
              <a:ext uri="{FF2B5EF4-FFF2-40B4-BE49-F238E27FC236}">
                <a16:creationId xmlns:a16="http://schemas.microsoft.com/office/drawing/2014/main" id="{5677B94E-188F-812B-22B1-D38C418E34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BCB6F9A7-5380-E786-652E-6D76138DF5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54DB0929-27C0-DCA2-2854-4D4437152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C1538-8C98-4875-B6F9-9E8B91097087}" type="datetimeFigureOut">
              <a:rPr lang="th-TH" smtClean="0"/>
              <a:t>01/07/69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16D831A1-C806-3A08-822D-D95C44A15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21181C24-1BA6-FEE2-4050-41BEB8EF1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A42FB5-5029-45EA-9A69-926BB8BA5C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18688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>
            <a:extLst>
              <a:ext uri="{FF2B5EF4-FFF2-40B4-BE49-F238E27FC236}">
                <a16:creationId xmlns:a16="http://schemas.microsoft.com/office/drawing/2014/main" id="{69D4F646-FA7D-D369-92E7-BA53E063C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63D033AB-5DCC-29A1-3123-69AC8E344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60026688-E998-F57E-2AE5-714183133C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5C1538-8C98-4875-B6F9-9E8B91097087}" type="datetimeFigureOut">
              <a:rPr lang="th-TH" smtClean="0"/>
              <a:t>01/07/69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9BF3E694-22E5-0E4B-4BF9-579364AC6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C22277EF-C69F-3CCD-5A00-48C8FA390F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A42FB5-5029-45EA-9A69-926BB8BA5CF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26864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E48B0B3-872D-88BC-3390-DE3CA1FF40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5776" y="1454846"/>
            <a:ext cx="11340445" cy="23876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B0F0"/>
                </a:solidFill>
                <a:latin typeface="Amasis MT Pro Black" panose="020F0502020204030204" pitchFamily="18" charset="0"/>
              </a:rPr>
              <a:t>OCCUPATIONAL HEALTH AND SAFETY</a:t>
            </a:r>
            <a:endParaRPr lang="th-TH" dirty="0">
              <a:solidFill>
                <a:srgbClr val="00B0F0"/>
              </a:solidFill>
              <a:latin typeface="Amasis MT Pro Black" panose="020F0502020204030204" pitchFamily="18" charset="0"/>
            </a:endParaRP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59637D75-1DD7-1ED4-E33B-DA6576A013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8" y="3931976"/>
            <a:ext cx="9144000" cy="1655762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0070C0"/>
                </a:solidFill>
                <a:latin typeface="Aptos ExtraBold" panose="020F0502020204030204" pitchFamily="34" charset="0"/>
              </a:rPr>
              <a:t>03376119</a:t>
            </a:r>
            <a:endParaRPr lang="th-TH" sz="3600" b="1" dirty="0">
              <a:solidFill>
                <a:srgbClr val="0070C0"/>
              </a:solidFill>
              <a:latin typeface="Aptos ExtraBold" panose="020F0502020204030204" pitchFamily="34" charset="0"/>
            </a:endParaRPr>
          </a:p>
        </p:txBody>
      </p:sp>
      <p:sp>
        <p:nvSpPr>
          <p:cNvPr id="6" name="ชื่อเรื่อง 1">
            <a:extLst>
              <a:ext uri="{FF2B5EF4-FFF2-40B4-BE49-F238E27FC236}">
                <a16:creationId xmlns:a16="http://schemas.microsoft.com/office/drawing/2014/main" id="{32400738-B931-869B-CC4A-EFE8AEA2CCB3}"/>
              </a:ext>
            </a:extLst>
          </p:cNvPr>
          <p:cNvSpPr txBox="1">
            <a:spLocks/>
          </p:cNvSpPr>
          <p:nvPr/>
        </p:nvSpPr>
        <p:spPr>
          <a:xfrm>
            <a:off x="425777" y="2612272"/>
            <a:ext cx="11340445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th-TH" b="1" dirty="0">
              <a:solidFill>
                <a:srgbClr val="00B0F0"/>
              </a:solidFill>
              <a:latin typeface="TH Baijam" panose="02000506000000020004" pitchFamily="2" charset="-34"/>
              <a:cs typeface="TH Baijam" panose="0200050600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811825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2404CA01-F50A-0C52-2A13-CF98E5AAA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138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แนะนำรายวิชา</a:t>
            </a:r>
            <a:endParaRPr lang="th-TH" sz="13800" dirty="0"/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3E20C54E-0B90-66FF-9630-E6BA0893C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78667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39F647A-0163-A91F-0E3D-37691BCA4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36" y="365125"/>
            <a:ext cx="10860464" cy="1325563"/>
          </a:xfrm>
        </p:spPr>
        <p:txBody>
          <a:bodyPr>
            <a:noAutofit/>
          </a:bodyPr>
          <a:lstStyle/>
          <a:p>
            <a:r>
              <a:rPr lang="th-TH" sz="72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สังเขปรายวิชา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64BB3EC-757F-63B3-5907-B8AB7507E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13" y="1432874"/>
            <a:ext cx="11236751" cy="4744089"/>
          </a:xfrm>
        </p:spPr>
        <p:txBody>
          <a:bodyPr>
            <a:no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ศึกษามาตรฐานการปฏิบัติงาน การวิเคราะห์อันตราย และการป้องกันอุบัติเหตุ การออกแบบเชิงวิศวกรรมความปลอดภัย การประเมินความเสี่ยง หลักวิศวกรรมความปลอดภัย การใช้เครื่องมือ กรณีศึกษาความปลอดภัยในการทำงาน</a:t>
            </a:r>
          </a:p>
          <a:p>
            <a:pPr marL="0" indent="0">
              <a:spcBef>
                <a:spcPct val="0"/>
              </a:spcBef>
              <a:buNone/>
            </a:pP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sz="4000" b="1" dirty="0">
                <a:solidFill>
                  <a:srgbClr val="00206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Study in Safety standards, Risk analysis, Accident protections, Safety engineering design, Risk evaluation, Safety engineering principle, Safety tools, Case studies in occupational health and safety</a:t>
            </a:r>
            <a:endParaRPr lang="th-TH" sz="4000" b="1" dirty="0">
              <a:solidFill>
                <a:srgbClr val="00206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13640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39F647A-0163-A91F-0E3D-37691BCA4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36" y="365125"/>
            <a:ext cx="10860464" cy="1325563"/>
          </a:xfrm>
        </p:spPr>
        <p:txBody>
          <a:bodyPr>
            <a:noAutofit/>
          </a:bodyPr>
          <a:lstStyle/>
          <a:p>
            <a:r>
              <a:rPr lang="en-US" sz="72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Course Learning Outcomes (CLOs)</a:t>
            </a:r>
            <a:endParaRPr lang="th-TH" sz="7200" b="1" dirty="0">
              <a:solidFill>
                <a:srgbClr val="00B0F0"/>
              </a:solidFill>
              <a:latin typeface="TH Baijam" panose="02000506000000020004" pitchFamily="2" charset="-34"/>
              <a:cs typeface="TH Baijam" panose="02000506000000020004" pitchFamily="2" charset="-34"/>
            </a:endParaRP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64BB3EC-757F-63B3-5907-B8AB7507E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13" y="1432874"/>
            <a:ext cx="11236751" cy="4744089"/>
          </a:xfrm>
        </p:spPr>
        <p:txBody>
          <a:bodyPr>
            <a:noAutofit/>
          </a:bodyPr>
          <a:lstStyle/>
          <a:p>
            <a:pPr marL="1254125" indent="-1254125">
              <a:spcBef>
                <a:spcPct val="0"/>
              </a:spcBef>
              <a:buNone/>
            </a:pPr>
            <a:r>
              <a:rPr lang="en-US" sz="4000" b="1" dirty="0">
                <a:solidFill>
                  <a:schemeClr val="accent4">
                    <a:lumMod val="50000"/>
                  </a:schemeClr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CLO-1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	ประเมินและวิเคราะห์ประเด็นด้านความปลอดภัยและอาชีว อนามัย ในที่ทำงานและชุมชน โดยใช้วิธีการที่เหมาะสม เพื่อให้ข้อสรุปที่ถูกต้อง</a:t>
            </a:r>
          </a:p>
          <a:p>
            <a:pPr marL="1254125" indent="-1254125">
              <a:spcBef>
                <a:spcPct val="0"/>
              </a:spcBef>
              <a:buNone/>
            </a:pPr>
            <a:r>
              <a:rPr lang="en-US" sz="4000" b="1" dirty="0">
                <a:solidFill>
                  <a:schemeClr val="accent4">
                    <a:lumMod val="50000"/>
                  </a:schemeClr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CLO-2</a:t>
            </a:r>
            <a:r>
              <a:rPr lang="th-TH" sz="4000" b="1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	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คัดเลือกและใช้เทคนิค ทรัพยากร และเครื่องมือที่ทันสมัย ​​รวมถึงข้อมูลและเทคโนโลยีคอมพิวเตอร์ที่เหมาะสม เพื่อปรับปรุงการปฏิบัติงานด้านความปลอดภัยและอาชีวอนามัย</a:t>
            </a:r>
          </a:p>
        </p:txBody>
      </p:sp>
    </p:spTree>
    <p:extLst>
      <p:ext uri="{BB962C8B-B14F-4D97-AF65-F5344CB8AC3E}">
        <p14:creationId xmlns:p14="http://schemas.microsoft.com/office/powerpoint/2010/main" val="636511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39F647A-0163-A91F-0E3D-37691BCA4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36" y="365125"/>
            <a:ext cx="10860464" cy="1325563"/>
          </a:xfrm>
        </p:spPr>
        <p:txBody>
          <a:bodyPr>
            <a:noAutofit/>
          </a:bodyPr>
          <a:lstStyle/>
          <a:p>
            <a:r>
              <a:rPr lang="en-US" sz="72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Course Learning Outcomes (CLOs)</a:t>
            </a:r>
            <a:endParaRPr lang="th-TH" sz="7200" b="1" dirty="0">
              <a:solidFill>
                <a:srgbClr val="00B0F0"/>
              </a:solidFill>
              <a:latin typeface="TH Baijam" panose="02000506000000020004" pitchFamily="2" charset="-34"/>
              <a:cs typeface="TH Baijam" panose="02000506000000020004" pitchFamily="2" charset="-34"/>
            </a:endParaRP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64BB3EC-757F-63B3-5907-B8AB7507E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13" y="1432874"/>
            <a:ext cx="11236751" cy="5060001"/>
          </a:xfrm>
        </p:spPr>
        <p:txBody>
          <a:bodyPr>
            <a:noAutofit/>
          </a:bodyPr>
          <a:lstStyle/>
          <a:p>
            <a:pPr marL="1254125" indent="-1254125">
              <a:spcBef>
                <a:spcPct val="0"/>
              </a:spcBef>
              <a:buNone/>
            </a:pPr>
            <a:r>
              <a:rPr lang="en-US" sz="4000" b="1" dirty="0">
                <a:solidFill>
                  <a:schemeClr val="accent4">
                    <a:lumMod val="50000"/>
                  </a:schemeClr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CLO-</a:t>
            </a:r>
            <a:r>
              <a:rPr lang="th-TH" sz="4000" b="1" dirty="0">
                <a:solidFill>
                  <a:schemeClr val="accent4">
                    <a:lumMod val="50000"/>
                  </a:schemeClr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3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	คาดการณ์ รับรู้ และประเมินปัญหาด้านความปลอดภัยและ</a:t>
            </a:r>
            <a:b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</a:b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อาชีวอนามัยโดยใช้หลักการทางวิทยาศาสตร์ที่มีหลักฐานเชิงประจักษ์เพื่อให้ได้ข้อสรุปที่พิสูจน์ได้</a:t>
            </a:r>
          </a:p>
          <a:p>
            <a:pPr marL="1254125" indent="-1254125">
              <a:spcBef>
                <a:spcPct val="0"/>
              </a:spcBef>
              <a:buNone/>
            </a:pP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1254125" indent="-1254125">
              <a:spcBef>
                <a:spcPct val="0"/>
              </a:spcBef>
              <a:buNone/>
            </a:pPr>
            <a:r>
              <a:rPr lang="en-US" sz="4000" b="1" dirty="0">
                <a:solidFill>
                  <a:schemeClr val="accent4">
                    <a:lumMod val="50000"/>
                  </a:schemeClr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CLO-</a:t>
            </a:r>
            <a:r>
              <a:rPr lang="th-TH" sz="4000" b="1" dirty="0">
                <a:solidFill>
                  <a:schemeClr val="accent4">
                    <a:lumMod val="50000"/>
                  </a:schemeClr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4</a:t>
            </a:r>
            <a:r>
              <a:rPr lang="th-TH" sz="4000" b="1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	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มีส่วนร่วมในการพัฒนาแนวทางแก้ไขปัญหาด้านความปลอดภัยและอาชีวอนามัยและแนะนำมาตรการป้องกันและแก้ไข</a:t>
            </a:r>
          </a:p>
          <a:p>
            <a:pPr marL="1254125" indent="-1254125">
              <a:spcBef>
                <a:spcPct val="0"/>
              </a:spcBef>
              <a:buNone/>
            </a:pP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1254125" indent="-1254125">
              <a:spcBef>
                <a:spcPct val="0"/>
              </a:spcBef>
              <a:buNone/>
            </a:pPr>
            <a:r>
              <a:rPr lang="en-US" sz="4000" b="1" dirty="0">
                <a:solidFill>
                  <a:schemeClr val="accent4">
                    <a:lumMod val="50000"/>
                  </a:schemeClr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CLO-</a:t>
            </a:r>
            <a:r>
              <a:rPr lang="th-TH" sz="4000" b="1" dirty="0">
                <a:solidFill>
                  <a:schemeClr val="accent4">
                    <a:lumMod val="50000"/>
                  </a:schemeClr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5</a:t>
            </a:r>
            <a:r>
              <a:rPr lang="th-TH" sz="4000" b="1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	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ปฏิบัติตามความรับผิดชอบทางวิชาชีพ จริยธรรม และกฎหมายด้านความปลอดภัยและอาชีวอนามัย</a:t>
            </a:r>
          </a:p>
          <a:p>
            <a:pPr marL="1254125" indent="-1254125">
              <a:spcBef>
                <a:spcPct val="0"/>
              </a:spcBef>
              <a:buNone/>
            </a:pP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90029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39F647A-0163-A91F-0E3D-37691BCA4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36" y="365125"/>
            <a:ext cx="10860464" cy="1325563"/>
          </a:xfrm>
        </p:spPr>
        <p:txBody>
          <a:bodyPr>
            <a:noAutofit/>
          </a:bodyPr>
          <a:lstStyle/>
          <a:p>
            <a:r>
              <a:rPr lang="en-US" sz="72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Course Learning Outcomes (CLOs)</a:t>
            </a:r>
            <a:endParaRPr lang="th-TH" sz="7200" b="1" dirty="0">
              <a:solidFill>
                <a:srgbClr val="00B0F0"/>
              </a:solidFill>
              <a:latin typeface="TH Baijam" panose="02000506000000020004" pitchFamily="2" charset="-34"/>
              <a:cs typeface="TH Baijam" panose="02000506000000020004" pitchFamily="2" charset="-34"/>
            </a:endParaRP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64BB3EC-757F-63B3-5907-B8AB7507E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13" y="1432874"/>
            <a:ext cx="11236751" cy="5060001"/>
          </a:xfrm>
        </p:spPr>
        <p:txBody>
          <a:bodyPr>
            <a:noAutofit/>
          </a:bodyPr>
          <a:lstStyle/>
          <a:p>
            <a:pPr marL="1254125" indent="-1254125">
              <a:spcBef>
                <a:spcPct val="0"/>
              </a:spcBef>
              <a:buNone/>
            </a:pPr>
            <a:r>
              <a:rPr lang="en-US" sz="4000" b="1" dirty="0">
                <a:solidFill>
                  <a:schemeClr val="accent4">
                    <a:lumMod val="50000"/>
                  </a:schemeClr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CLO-</a:t>
            </a:r>
            <a:r>
              <a:rPr lang="th-TH" sz="4000" b="1" dirty="0">
                <a:solidFill>
                  <a:schemeClr val="accent4">
                    <a:lumMod val="50000"/>
                  </a:schemeClr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6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	สื่อสารข้อมูล แนวคิด ปัญหา และแนวทางแก้ไขอย่างมีประสิทธิภาพให้กับเพื่อนฝูง ผู้คนในที่ทำงาน และสังคมโดยรวม</a:t>
            </a:r>
          </a:p>
          <a:p>
            <a:pPr marL="1254125" indent="-1254125">
              <a:spcBef>
                <a:spcPct val="0"/>
              </a:spcBef>
              <a:buNone/>
            </a:pP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pPr marL="1254125" indent="-1254125">
              <a:spcBef>
                <a:spcPct val="0"/>
              </a:spcBef>
              <a:buNone/>
            </a:pPr>
            <a:r>
              <a:rPr lang="en-US" sz="4000" b="1" dirty="0">
                <a:solidFill>
                  <a:schemeClr val="accent4">
                    <a:lumMod val="50000"/>
                  </a:schemeClr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CLO-</a:t>
            </a:r>
            <a:r>
              <a:rPr lang="th-TH" sz="4000" b="1" dirty="0">
                <a:solidFill>
                  <a:schemeClr val="accent4">
                    <a:lumMod val="50000"/>
                  </a:schemeClr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7</a:t>
            </a:r>
            <a:r>
              <a:rPr lang="th-TH" sz="4000" b="1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	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เข้าใจและยอมรับความแตกต่างของสภาพบุคคลในที่ทำงาน และทำงานร่วมกับผู้อื่นด้วยความปลอดภัยได้</a:t>
            </a:r>
          </a:p>
        </p:txBody>
      </p:sp>
    </p:spTree>
    <p:extLst>
      <p:ext uri="{BB962C8B-B14F-4D97-AF65-F5344CB8AC3E}">
        <p14:creationId xmlns:p14="http://schemas.microsoft.com/office/powerpoint/2010/main" val="1773564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206F74C-A036-2452-C75C-0747A56DA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h-TH" sz="72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มาตรฐานอาชีวอนามัยและความปลอดภัย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3DE4CF6-FF45-0DE0-E766-D91ECBDE5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ความรู้ทั่วไปเกี่ยวกับความปลอดภัยและชีวอนามัยในที่ทำงาน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วัตถุประสงค์ของงานชีวอนามัยและความปลอดภัยในที่ทำงาน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ประวัติความเป็นมาของความปลอดภัยในโลก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หน่วยงานที่เกี่ยวข้องกับมาตรฐานความปลอดภัย (เช่น 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OSHA, ILO, 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มอก.)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6BB07E-5F92-6CB8-7BB7-47F02B94AD36}"/>
              </a:ext>
            </a:extLst>
          </p:cNvPr>
          <p:cNvSpPr txBox="1"/>
          <p:nvPr/>
        </p:nvSpPr>
        <p:spPr>
          <a:xfrm>
            <a:off x="131190" y="743664"/>
            <a:ext cx="471340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</a:t>
            </a:r>
            <a:endParaRPr lang="th-TH" sz="4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550AA8-FB20-C7D0-8822-AD534C1E2F77}"/>
              </a:ext>
            </a:extLst>
          </p:cNvPr>
          <p:cNvSpPr txBox="1"/>
          <p:nvPr/>
        </p:nvSpPr>
        <p:spPr>
          <a:xfrm>
            <a:off x="69915" y="1690688"/>
            <a:ext cx="5938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02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07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69</a:t>
            </a:r>
            <a:endParaRPr lang="th-TH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36851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206F74C-A036-2452-C75C-0747A56DA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h-TH" sz="72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สถานการณ์ปัจจุบันด้านความปลอดภัย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3DE4CF6-FF45-0DE0-E766-D91ECBDE5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สถานการณ์ปัจจุบันของโลกและประเทศไทยที่เกี่ยวข้องกับความปลอดภัยและสถิติ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ประโยชน์ที่ได้รับจากการทำงานที่ปลอดภัยสำหรับบุคคลและองค์กร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คุณภาพชีวิตในการทำงานและความสัมพันธ์กับความปลอดภัย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เทคนิคและมาตรฐานที่เกี่ยวข้องกับความปลอดภัยที่สำคัญ (เช่น 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ISO 45001)</a:t>
            </a: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D1AFCE-555E-0B05-4954-BA4D9F472CA5}"/>
              </a:ext>
            </a:extLst>
          </p:cNvPr>
          <p:cNvSpPr txBox="1"/>
          <p:nvPr/>
        </p:nvSpPr>
        <p:spPr>
          <a:xfrm>
            <a:off x="131190" y="743664"/>
            <a:ext cx="471340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2</a:t>
            </a:r>
            <a:endParaRPr lang="th-TH" sz="4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350677-CB54-6DF6-54B7-B309138B2892}"/>
              </a:ext>
            </a:extLst>
          </p:cNvPr>
          <p:cNvSpPr txBox="1"/>
          <p:nvPr/>
        </p:nvSpPr>
        <p:spPr>
          <a:xfrm>
            <a:off x="69915" y="1690688"/>
            <a:ext cx="5938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09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07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69</a:t>
            </a:r>
            <a:endParaRPr lang="th-TH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71711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206F74C-A036-2452-C75C-0747A56DA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72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การวิเคราะห์สาเหตุอันตราย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3DE4CF6-FF45-0DE0-E766-D91ECBDE5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56390" cy="4351338"/>
          </a:xfrm>
        </p:spPr>
        <p:txBody>
          <a:bodyPr>
            <a:normAutofit/>
          </a:bodyPr>
          <a:lstStyle/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สาเหตุทั่วไปของอันตรายในการทำงาน (เช่น การกระทำที่ไม่ปลอดภัย, สภาพการณ์ที่ไม่ปลอดภัย)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ประเภทของการสูญเสียจากอันตราย (ค่าใช้จ่ายโดยตรงและโดยอ้อม)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ส่วนของร่างกายที่มีความเสี่ยงจากอันตรายต่างๆ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การจำแนกสาเหตุของอันตรายในการทำงาน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65848C-6682-335D-E7DC-A6843FE0F08B}"/>
              </a:ext>
            </a:extLst>
          </p:cNvPr>
          <p:cNvSpPr txBox="1"/>
          <p:nvPr/>
        </p:nvSpPr>
        <p:spPr>
          <a:xfrm>
            <a:off x="131190" y="743664"/>
            <a:ext cx="471340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3</a:t>
            </a:r>
            <a:endParaRPr lang="th-TH" sz="4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9A91E4-B936-4923-3628-6890732ED178}"/>
              </a:ext>
            </a:extLst>
          </p:cNvPr>
          <p:cNvSpPr txBox="1"/>
          <p:nvPr/>
        </p:nvSpPr>
        <p:spPr>
          <a:xfrm>
            <a:off x="69915" y="1690688"/>
            <a:ext cx="5938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16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07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69</a:t>
            </a:r>
            <a:endParaRPr lang="th-TH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36662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206F74C-A036-2452-C75C-0747A56DA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h-TH" sz="72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ผลที่เกิดจากอันตรายในการปฏิบัติงานและแนวทางการลดผลกระทบ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3DE4CF6-FF45-0DE0-E766-D91ECBDE5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ผลที่เกิดจากอันตรายแต่ละชนิดโดยละเอียด (เช่น กายภาพ, เคมี, ชีวภาพ, การยศาสตร์)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อันตรายจากสภาพร่างกาย จิตใจ และความตึงเครียดในการทำงาน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อันตรายจากสภาพแวดล้อมในการทำงาน (เช่น เสียงดัง, การสั่นสะเทือน, แสงสว่าง, อุณหภูมิ)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กลยุทธ์และการควบคุมเพื่อลดผลกระทบจากอันตราย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683F57-9452-9D43-970B-1E4F96132CC8}"/>
              </a:ext>
            </a:extLst>
          </p:cNvPr>
          <p:cNvSpPr txBox="1"/>
          <p:nvPr/>
        </p:nvSpPr>
        <p:spPr>
          <a:xfrm>
            <a:off x="131190" y="743664"/>
            <a:ext cx="471340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4</a:t>
            </a:r>
            <a:endParaRPr lang="th-TH" sz="4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66FCF7-4A83-9053-EE99-9DBA1798620C}"/>
              </a:ext>
            </a:extLst>
          </p:cNvPr>
          <p:cNvSpPr txBox="1"/>
          <p:nvPr/>
        </p:nvSpPr>
        <p:spPr>
          <a:xfrm>
            <a:off x="69915" y="1690688"/>
            <a:ext cx="5938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23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07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69</a:t>
            </a:r>
            <a:endParaRPr lang="th-TH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99903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206F74C-A036-2452-C75C-0747A56DA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72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พื้นฐานการป้องกันอุบัติเหตุ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3DE4CF6-FF45-0DE0-E766-D91ECBDE5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ความเข้าใจอุบัติเหตุ</a:t>
            </a:r>
            <a:endParaRPr lang="en-US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คำจำกัดความและทฤษฎี (เช่น ทฤษฎีโดมิโน)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ประเภทของอุบัติเหตุในอุตสาหกรรมต่างๆ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ความสูญเสียจากอุบัติเหตุแต่ละประเภท (มนุษย์, ทรัพย์สิน, สิ่งแวดล้อม)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ความสำคัญของการป้องกันอุบัติเหตุ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714D4B-072E-4E9B-4462-EC1883DC6028}"/>
              </a:ext>
            </a:extLst>
          </p:cNvPr>
          <p:cNvSpPr txBox="1"/>
          <p:nvPr/>
        </p:nvSpPr>
        <p:spPr>
          <a:xfrm>
            <a:off x="131190" y="743664"/>
            <a:ext cx="471340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5</a:t>
            </a:r>
            <a:endParaRPr lang="th-TH" sz="4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1447F0-2F06-5FF7-744A-600AC70B9A5D}"/>
              </a:ext>
            </a:extLst>
          </p:cNvPr>
          <p:cNvSpPr txBox="1"/>
          <p:nvPr/>
        </p:nvSpPr>
        <p:spPr>
          <a:xfrm>
            <a:off x="69915" y="1690688"/>
            <a:ext cx="5938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30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07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69</a:t>
            </a:r>
            <a:endParaRPr lang="th-TH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40962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206F74C-A036-2452-C75C-0747A56DA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72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มาตรการป้องกันอุบัติเหตุ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3DE4CF6-FF45-0DE0-E766-D91ECBDE5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มาตรการเชิงรุกในการป้องกันอุบัติเหตุ (เช่น การควบคุมทางวิศวกรรม, การควบคุมเชิงบริหาร, 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PPE)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มาตรการเชิงรับในการป้องกันอุบัติเหตุ (เช่น การสอบสวนอุบัติเหตุ, การแก้ไข)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ประโยชน์ของโปรแกรมการป้องกันอุบัติเหตุที่มีประสิทธิภาพ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การพัฒนาและนำแผนป้องกันอุบัติเหตุไปใช้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1B93A8-E671-350B-84F8-2B54ED3E0686}"/>
              </a:ext>
            </a:extLst>
          </p:cNvPr>
          <p:cNvSpPr txBox="1"/>
          <p:nvPr/>
        </p:nvSpPr>
        <p:spPr>
          <a:xfrm>
            <a:off x="131190" y="743664"/>
            <a:ext cx="471340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6</a:t>
            </a:r>
            <a:endParaRPr lang="th-TH" sz="4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91C332-EDA0-B259-7D46-06BE83EAF925}"/>
              </a:ext>
            </a:extLst>
          </p:cNvPr>
          <p:cNvSpPr txBox="1"/>
          <p:nvPr/>
        </p:nvSpPr>
        <p:spPr>
          <a:xfrm>
            <a:off x="69915" y="1690688"/>
            <a:ext cx="5938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06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08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69</a:t>
            </a:r>
            <a:endParaRPr lang="th-TH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38134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206F74C-A036-2452-C75C-0747A56DA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72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การประเมินความเสี่ยง</a:t>
            </a:r>
            <a:r>
              <a:rPr lang="en-US" sz="72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 (1)</a:t>
            </a:r>
            <a:endParaRPr lang="th-TH" sz="7200" b="1" dirty="0">
              <a:solidFill>
                <a:srgbClr val="00B0F0"/>
              </a:solidFill>
              <a:latin typeface="TH Baijam" panose="02000506000000020004" pitchFamily="2" charset="-34"/>
              <a:cs typeface="TH Baijam" panose="02000506000000020004" pitchFamily="2" charset="-34"/>
            </a:endParaRP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3DE4CF6-FF45-0DE0-E766-D91ECBDE5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หลักการประเมินความเสี่ยง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ประเภทของความเสี่ยง (เช่น กายภาพ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 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เคมี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 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ชีวภาพ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 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การยศาสตร์)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วิธีการระบุอันตราย (เช่น ตรวจสอบรายการ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 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การเดินสำรวจ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 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การวิเคราะห์ความปลอดภัยในงาน - 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JSA)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เทคนิคการประเมินความเสี่ยงเชิงคุณภาพ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854CC6-F04F-46B9-5DB0-FF37528AB09D}"/>
              </a:ext>
            </a:extLst>
          </p:cNvPr>
          <p:cNvSpPr txBox="1"/>
          <p:nvPr/>
        </p:nvSpPr>
        <p:spPr>
          <a:xfrm>
            <a:off x="131190" y="743664"/>
            <a:ext cx="471340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7</a:t>
            </a:r>
            <a:endParaRPr lang="th-TH" sz="4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069D21-6B71-7242-6599-859DF545ECE7}"/>
              </a:ext>
            </a:extLst>
          </p:cNvPr>
          <p:cNvSpPr txBox="1"/>
          <p:nvPr/>
        </p:nvSpPr>
        <p:spPr>
          <a:xfrm>
            <a:off x="69915" y="1690688"/>
            <a:ext cx="5938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13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08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69</a:t>
            </a:r>
            <a:endParaRPr lang="th-TH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85237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206F74C-A036-2452-C75C-0747A56DA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72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สอบกลางภาค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3DE4CF6-FF45-0DE0-E766-D91ECBDE5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พฤหัสบดี 20 สิงหาคม 2568 09:30 - 12:30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F57A81-3E59-5F03-02A3-750F0B30FED1}"/>
              </a:ext>
            </a:extLst>
          </p:cNvPr>
          <p:cNvSpPr txBox="1"/>
          <p:nvPr/>
        </p:nvSpPr>
        <p:spPr>
          <a:xfrm>
            <a:off x="69915" y="1690688"/>
            <a:ext cx="5938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20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08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69</a:t>
            </a:r>
            <a:endParaRPr lang="th-TH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6CBD9D-5D2E-DBA0-3FF1-ECD8596CACE8}"/>
              </a:ext>
            </a:extLst>
          </p:cNvPr>
          <p:cNvSpPr txBox="1"/>
          <p:nvPr/>
        </p:nvSpPr>
        <p:spPr>
          <a:xfrm>
            <a:off x="131190" y="743664"/>
            <a:ext cx="471340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8</a:t>
            </a:r>
            <a:endParaRPr lang="th-TH" sz="4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383105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206F74C-A036-2452-C75C-0747A56DA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72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การประเมินความเสี่ยง</a:t>
            </a:r>
            <a:r>
              <a:rPr lang="en-US" sz="72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 (2)</a:t>
            </a:r>
            <a:endParaRPr lang="th-TH" sz="7200" b="1" dirty="0">
              <a:solidFill>
                <a:srgbClr val="00B0F0"/>
              </a:solidFill>
              <a:latin typeface="TH Baijam" panose="02000506000000020004" pitchFamily="2" charset="-34"/>
              <a:cs typeface="TH Baijam" panose="02000506000000020004" pitchFamily="2" charset="-34"/>
            </a:endParaRP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3DE4CF6-FF45-0DE0-E766-D91ECBDE5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เทคนิคการประเมินความเสี่ยงเชิงปริมาณ</a:t>
            </a:r>
          </a:p>
          <a:p>
            <a:r>
              <a:rPr lang="th-TH" sz="4000" b="1" dirty="0" err="1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เมทริกซ์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การประเมินความเสี่ยง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ลำดับชั้นการควบคุมการจัดการความเสี่ยง (การกำจัด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 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การทดแทน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 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วิศวกรรม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 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การบริหาร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 PPE)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มาตรการและแนวทางป้องกันความเสี่ยง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ประโยชน์ของการจัดการความเสี่ยงที่มีประสิทธิภาพ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EA4D17-850A-3C09-33F7-EDB27185B597}"/>
              </a:ext>
            </a:extLst>
          </p:cNvPr>
          <p:cNvSpPr txBox="1"/>
          <p:nvPr/>
        </p:nvSpPr>
        <p:spPr>
          <a:xfrm>
            <a:off x="131190" y="743664"/>
            <a:ext cx="471340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9</a:t>
            </a:r>
            <a:endParaRPr lang="th-TH" sz="4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6F5FA8-3E69-CE1E-21ED-0846F686C54B}"/>
              </a:ext>
            </a:extLst>
          </p:cNvPr>
          <p:cNvSpPr txBox="1"/>
          <p:nvPr/>
        </p:nvSpPr>
        <p:spPr>
          <a:xfrm>
            <a:off x="69915" y="1690688"/>
            <a:ext cx="5938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27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08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69</a:t>
            </a:r>
            <a:endParaRPr lang="th-TH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967512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206F74C-A036-2452-C75C-0747A56DA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72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หลักวิศวกรรมความปลอดภัย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3DE4CF6-FF45-0DE0-E766-D91ECBDE5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วัตถุประสงค์ของการบริหารความปลอดภัย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บทบาทและความรับผิดชอบในองค์กรความปลอดภัย (เช่น คณะกรรมการความปลอดภัย, เจ้าหน้าที่ความปลอดภัย)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องค์ประกอบของระบบการจัดการความปลอดภัยที่มีประสิทธิภาพ (เช่น นโยบาย, การวางแผน, การนำไปปฏิบัติ)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การติดตามและทบทวนประสิทธิภาพด้านความปลอดภัย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48C85A-2AF1-B2C2-3E07-3B17B6319C94}"/>
              </a:ext>
            </a:extLst>
          </p:cNvPr>
          <p:cNvSpPr txBox="1"/>
          <p:nvPr/>
        </p:nvSpPr>
        <p:spPr>
          <a:xfrm>
            <a:off x="69915" y="681037"/>
            <a:ext cx="858625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10</a:t>
            </a:r>
            <a:endParaRPr lang="th-TH" sz="4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1224CB-06A9-C2AB-C575-176C1B9A7A2D}"/>
              </a:ext>
            </a:extLst>
          </p:cNvPr>
          <p:cNvSpPr txBox="1"/>
          <p:nvPr/>
        </p:nvSpPr>
        <p:spPr>
          <a:xfrm>
            <a:off x="69915" y="1690688"/>
            <a:ext cx="5938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10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09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69</a:t>
            </a:r>
            <a:endParaRPr lang="th-TH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628649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206F74C-A036-2452-C75C-0747A56DA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9240" y="365125"/>
            <a:ext cx="10354560" cy="1325563"/>
          </a:xfrm>
        </p:spPr>
        <p:txBody>
          <a:bodyPr>
            <a:normAutofit fontScale="90000"/>
          </a:bodyPr>
          <a:lstStyle/>
          <a:p>
            <a:r>
              <a:rPr lang="th-TH" sz="72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การออกแบบและควบคุมทางวิศวกรรมความปลอดภัย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3DE4CF6-FF45-0DE0-E766-D91ECBDE5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การออกแบบเพื่อความปลอดภัย: การรวมความปลอดภัยเข้ากับการออกแบบสิ่งอำนวยความสะดวกและอุปกรณ์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หลักการและมาตรฐานการป้องกันเครื่องจักร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ความปลอดภัยทางวิศวกรรมไฟฟ้า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วิศวกรรมความปลอดภัยด้านอัคคีภัยและระบบป้องกัน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A3F303-A1AC-CF27-E736-4EB7F874BC71}"/>
              </a:ext>
            </a:extLst>
          </p:cNvPr>
          <p:cNvSpPr txBox="1"/>
          <p:nvPr/>
        </p:nvSpPr>
        <p:spPr>
          <a:xfrm>
            <a:off x="131189" y="743664"/>
            <a:ext cx="868051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11</a:t>
            </a:r>
            <a:endParaRPr lang="th-TH" sz="4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944144-6777-FDE0-60AD-DD2F845B0FD1}"/>
              </a:ext>
            </a:extLst>
          </p:cNvPr>
          <p:cNvSpPr txBox="1"/>
          <p:nvPr/>
        </p:nvSpPr>
        <p:spPr>
          <a:xfrm>
            <a:off x="69915" y="1690688"/>
            <a:ext cx="5938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17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09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69</a:t>
            </a:r>
            <a:endParaRPr lang="th-TH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00648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206F74C-A036-2452-C75C-0747A56DA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376" y="365125"/>
            <a:ext cx="10307424" cy="1325563"/>
          </a:xfrm>
        </p:spPr>
        <p:txBody>
          <a:bodyPr>
            <a:noAutofit/>
          </a:bodyPr>
          <a:lstStyle/>
          <a:p>
            <a:r>
              <a:rPr lang="th-TH" sz="60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ความปลอดภัยในการใช้เครื่องมือ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3DE4CF6-FF45-0DE0-E766-D91ECBDE5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การจำแนกและประเภทของเครื่องมือช่างและเครื่องมือไฟฟ้า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อุบัติเหตุทั่วไปจากการใช้เครื่องมือผิดวิธี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หลักการใช้เครื่องมืออย่างปลอดภัยและการบำรุงรักษา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อุปกรณ์ป้องกันความปลอดภัยส่วนบุคคล (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PPE) 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สำหรับการใช้เครื่องมือ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ความปลอดภัยในการจัดเก็บเครื่องมือและสารเคมี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62B478-1A59-5EE9-712A-11BF5B49FFCA}"/>
              </a:ext>
            </a:extLst>
          </p:cNvPr>
          <p:cNvSpPr txBox="1"/>
          <p:nvPr/>
        </p:nvSpPr>
        <p:spPr>
          <a:xfrm>
            <a:off x="131190" y="743664"/>
            <a:ext cx="915186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12</a:t>
            </a:r>
            <a:endParaRPr lang="th-TH" sz="4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0F392C-4CD7-BF09-264D-F0161AE8BC10}"/>
              </a:ext>
            </a:extLst>
          </p:cNvPr>
          <p:cNvSpPr txBox="1"/>
          <p:nvPr/>
        </p:nvSpPr>
        <p:spPr>
          <a:xfrm>
            <a:off x="69915" y="1690688"/>
            <a:ext cx="5938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24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09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69</a:t>
            </a:r>
            <a:endParaRPr lang="th-TH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768562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206F74C-A036-2452-C75C-0747A56DA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0388" y="365125"/>
            <a:ext cx="10373412" cy="1325563"/>
          </a:xfrm>
        </p:spPr>
        <p:txBody>
          <a:bodyPr>
            <a:normAutofit/>
          </a:bodyPr>
          <a:lstStyle/>
          <a:p>
            <a:r>
              <a:rPr lang="th-TH" sz="60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การส่งเสริมความปลอดภัยในองค์กร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3DE4CF6-FF45-0DE0-E766-D91ECBDE5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ความสำคัญของวัฒนธรรมความปลอดภัย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โปรแกรมการฝึกอบรมและการศึกษาด้านความปลอดภัย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การรณรงค์และส่งเสริมความปลอดภัยภายในองค์กร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โครงการจูงใจด้านความปลอดภัย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ประโยชน์ของวัฒนธรรมและการจัดการความปลอดภัยที่แข็งแกร่ง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59C97E-8C39-700D-822E-F242EC3A73F9}"/>
              </a:ext>
            </a:extLst>
          </p:cNvPr>
          <p:cNvSpPr txBox="1"/>
          <p:nvPr/>
        </p:nvSpPr>
        <p:spPr>
          <a:xfrm>
            <a:off x="69915" y="792222"/>
            <a:ext cx="952892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13</a:t>
            </a:r>
            <a:endParaRPr lang="th-TH" sz="4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2A13D7-4C69-47B7-C3FC-642F92C8A82C}"/>
              </a:ext>
            </a:extLst>
          </p:cNvPr>
          <p:cNvSpPr txBox="1"/>
          <p:nvPr/>
        </p:nvSpPr>
        <p:spPr>
          <a:xfrm>
            <a:off x="69915" y="1690688"/>
            <a:ext cx="5938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01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10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69</a:t>
            </a:r>
            <a:endParaRPr lang="th-TH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859797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7D735-C852-C4FB-2E56-4C82EE83D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60773A98-D2B5-3EE1-CA60-A8656BA3F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0388" y="365125"/>
            <a:ext cx="10373412" cy="1325563"/>
          </a:xfrm>
        </p:spPr>
        <p:txBody>
          <a:bodyPr>
            <a:normAutofit/>
          </a:bodyPr>
          <a:lstStyle/>
          <a:p>
            <a:r>
              <a:rPr lang="th-TH" sz="60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กรณีศึกษาความปลอดภัย </a:t>
            </a:r>
            <a:r>
              <a:rPr lang="en-US" sz="60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I</a:t>
            </a:r>
            <a:endParaRPr lang="th-TH" sz="6000" b="1" dirty="0">
              <a:solidFill>
                <a:srgbClr val="00B0F0"/>
              </a:solidFill>
              <a:latin typeface="TH Baijam" panose="02000506000000020004" pitchFamily="2" charset="-34"/>
              <a:cs typeface="TH Baijam" panose="02000506000000020004" pitchFamily="2" charset="-34"/>
            </a:endParaRP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0CCA6FE7-E60A-978F-90CB-307591AFC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การวิเคราะห์เหตุการณ์และอุบัติเหตุจริงด้านความปลอดภัยจากอุตสาหกรรมต่างๆ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การระบุสาเหตุที่แท้จริงโดยใช้เทคนิคการสอบสวน (เช่น 5 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Whys, Fishbone Diagram)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บทเรียนที่ได้รับจากเหตุการณ์ที่ผ่านมา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การอภิปรายเกี่ยวกับการป้องกันเหตุการณ์ที่คล้ายคลึงกัน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DC0909-1317-D59C-B586-ACE2142500E5}"/>
              </a:ext>
            </a:extLst>
          </p:cNvPr>
          <p:cNvSpPr txBox="1"/>
          <p:nvPr/>
        </p:nvSpPr>
        <p:spPr>
          <a:xfrm>
            <a:off x="69915" y="792222"/>
            <a:ext cx="952892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14</a:t>
            </a:r>
            <a:endParaRPr lang="th-TH" sz="4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D08175-52D2-10AF-FF4C-CA01321704BF}"/>
              </a:ext>
            </a:extLst>
          </p:cNvPr>
          <p:cNvSpPr txBox="1"/>
          <p:nvPr/>
        </p:nvSpPr>
        <p:spPr>
          <a:xfrm>
            <a:off x="69915" y="1690688"/>
            <a:ext cx="5938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08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10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69</a:t>
            </a:r>
            <a:endParaRPr lang="th-TH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41892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2457B-28CB-A88B-1DE5-A407F359F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8571A48B-D55A-E56D-C016-2AE5080BC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0388" y="365125"/>
            <a:ext cx="10373412" cy="1325563"/>
          </a:xfrm>
        </p:spPr>
        <p:txBody>
          <a:bodyPr>
            <a:normAutofit/>
          </a:bodyPr>
          <a:lstStyle/>
          <a:p>
            <a:r>
              <a:rPr lang="th-TH" sz="60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กรณีศึกษาความปลอดภัย </a:t>
            </a:r>
            <a:r>
              <a:rPr lang="en-US" sz="60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II </a:t>
            </a:r>
            <a:r>
              <a:rPr lang="th-TH" sz="60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และบทสรุป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E0DA89B8-8244-A759-E18E-3F45B7ABA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การวิเคราะห์เชิงลึกเพิ่มเติมเกี่ยวกับกรณีศึกษาด้านความปลอดภัยที่ซับซ้อน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การประยุกต์ใช้หลักการที่ได้เรียนรู้กับสถานการณ์จริง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ทบทวนเนื้อหาหลักสูตรและประเด็นสำคัญ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การอภิปรายสรุปเกี่ยวกับอนาคตของอาชีวอนามัยและความปลอดภัย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C6E509-5255-8E70-0388-B491D1E1800F}"/>
              </a:ext>
            </a:extLst>
          </p:cNvPr>
          <p:cNvSpPr txBox="1"/>
          <p:nvPr/>
        </p:nvSpPr>
        <p:spPr>
          <a:xfrm>
            <a:off x="69915" y="792222"/>
            <a:ext cx="952892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15</a:t>
            </a:r>
            <a:endParaRPr lang="th-TH" sz="4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F9B4E1-86A9-3E83-EB75-85466E2DEC46}"/>
              </a:ext>
            </a:extLst>
          </p:cNvPr>
          <p:cNvSpPr txBox="1"/>
          <p:nvPr/>
        </p:nvSpPr>
        <p:spPr>
          <a:xfrm>
            <a:off x="69915" y="1690688"/>
            <a:ext cx="5938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15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10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69</a:t>
            </a:r>
            <a:endParaRPr lang="th-TH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196554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DBE43-47AF-B638-C2ED-24E5C8AAF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2E56C1D-4FB2-6C07-FF94-316E696A5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0388" y="365125"/>
            <a:ext cx="10373412" cy="1325563"/>
          </a:xfrm>
        </p:spPr>
        <p:txBody>
          <a:bodyPr>
            <a:normAutofit/>
          </a:bodyPr>
          <a:lstStyle/>
          <a:p>
            <a:r>
              <a:rPr lang="th-TH" sz="60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นำเสนอรายงาน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821FFDAF-3725-6027-1055-F8E2702F7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นำเสนอรายงาน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576332-5BE4-1348-64BE-DA9D7548F69F}"/>
              </a:ext>
            </a:extLst>
          </p:cNvPr>
          <p:cNvSpPr txBox="1"/>
          <p:nvPr/>
        </p:nvSpPr>
        <p:spPr>
          <a:xfrm>
            <a:off x="69915" y="792222"/>
            <a:ext cx="952892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16</a:t>
            </a:r>
            <a:endParaRPr lang="th-TH" sz="4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FE738A-AA1D-707E-05AF-8BBCC2DCBA4E}"/>
              </a:ext>
            </a:extLst>
          </p:cNvPr>
          <p:cNvSpPr txBox="1"/>
          <p:nvPr/>
        </p:nvSpPr>
        <p:spPr>
          <a:xfrm>
            <a:off x="69915" y="1690688"/>
            <a:ext cx="5938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22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10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69</a:t>
            </a:r>
            <a:endParaRPr lang="th-TH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010981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206F74C-A036-2452-C75C-0747A56DA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058" y="365125"/>
            <a:ext cx="10137742" cy="1325563"/>
          </a:xfrm>
        </p:spPr>
        <p:txBody>
          <a:bodyPr>
            <a:normAutofit/>
          </a:bodyPr>
          <a:lstStyle/>
          <a:p>
            <a:r>
              <a:rPr lang="th-TH" sz="72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สอบปลายภาค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3DE4CF6-FF45-0DE0-E766-D91ECBDE5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พฤหัสบดี 29 ตุลาคม 2568 09:30 - 12:30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319A64-AE2C-F50C-C50C-049E9F74AE2D}"/>
              </a:ext>
            </a:extLst>
          </p:cNvPr>
          <p:cNvSpPr txBox="1"/>
          <p:nvPr/>
        </p:nvSpPr>
        <p:spPr>
          <a:xfrm>
            <a:off x="69915" y="792222"/>
            <a:ext cx="952892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16</a:t>
            </a:r>
            <a:endParaRPr lang="th-TH" sz="48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7CC51D-2C8E-5F7D-2ACD-4918CB1FC62E}"/>
              </a:ext>
            </a:extLst>
          </p:cNvPr>
          <p:cNvSpPr txBox="1"/>
          <p:nvPr/>
        </p:nvSpPr>
        <p:spPr>
          <a:xfrm>
            <a:off x="69915" y="1690688"/>
            <a:ext cx="5938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29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10</a:t>
            </a:r>
          </a:p>
          <a:p>
            <a:r>
              <a:rPr lang="en-U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69</a:t>
            </a:r>
            <a:endParaRPr lang="th-TH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482797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206F74C-A036-2452-C75C-0747A56DA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h-TH" sz="72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การประเมินผลการเรียน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3DE4CF6-FF45-0DE0-E766-D91ECBDE5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แบบฝึกหัด 	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	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ร้อยละ 35</a:t>
            </a:r>
            <a:endParaRPr lang="en-US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แบบทดสอบ		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ร้อยละ 20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รายงานหน้าชั้น		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ร้อยละ 15</a:t>
            </a: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สอบกลางภาค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		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ร้อยละ 15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สอบปลายภาค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		</a:t>
            </a:r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ร้อย</a:t>
            </a:r>
            <a:r>
              <a:rPr lang="th-TH" sz="4000" b="1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ละ 15</a:t>
            </a: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8791337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206F74C-A036-2452-C75C-0747A56DA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Course Policies</a:t>
            </a:r>
            <a:endParaRPr lang="th-TH" sz="7200" b="1" dirty="0">
              <a:solidFill>
                <a:srgbClr val="00B0F0"/>
              </a:solidFill>
              <a:latin typeface="TH Baijam" panose="02000506000000020004" pitchFamily="2" charset="-34"/>
              <a:cs typeface="TH Baijam" panose="02000506000000020004" pitchFamily="2" charset="-34"/>
            </a:endParaRP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3DE4CF6-FF45-0DE0-E766-D91ECBDE5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13" y="1825625"/>
            <a:ext cx="11472421" cy="4351338"/>
          </a:xfrm>
        </p:spPr>
        <p:txBody>
          <a:bodyPr>
            <a:normAutofit/>
          </a:bodyPr>
          <a:lstStyle/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ผู้เรียนต้องเข้าเรียนตรงเวลาทุกคาบ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ผู้เรียนต้องปฏิบัติงานที่ได้รับมอบหมายด้วยตนเอง ถ้าไม่สามารถปฏิบัติได้ ให้แจ้งผู้สอนโดยเร็ว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ผู้เรียนต้องปฏิบัติงานที่ได้รับมอบหมายให้แล้วเสร็จในเวลาที่กำหนด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ผู้เรียนสามารถติดต่อ สอบถามผู้สอนได้ในช่องทางและเวลาที่กำหนด</a:t>
            </a:r>
          </a:p>
          <a:p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428978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206F74C-A036-2452-C75C-0747A56DA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365125"/>
            <a:ext cx="10891887" cy="1325563"/>
          </a:xfrm>
        </p:spPr>
        <p:txBody>
          <a:bodyPr>
            <a:normAutofit/>
          </a:bodyPr>
          <a:lstStyle/>
          <a:p>
            <a:r>
              <a:rPr lang="en-US" sz="72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Grading policy</a:t>
            </a:r>
            <a:endParaRPr lang="th-TH" sz="7200" b="1" dirty="0">
              <a:solidFill>
                <a:srgbClr val="00B0F0"/>
              </a:solidFill>
              <a:latin typeface="TH Baijam" panose="02000506000000020004" pitchFamily="2" charset="-34"/>
              <a:cs typeface="TH Baijam" panose="02000506000000020004" pitchFamily="2" charset="-34"/>
            </a:endParaRP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3DE4CF6-FF45-0DE0-E766-D91ECBDE5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13" y="1825625"/>
            <a:ext cx="11472421" cy="4351338"/>
          </a:xfrm>
        </p:spPr>
        <p:txBody>
          <a:bodyPr>
            <a:normAutofit fontScale="92500" lnSpcReduction="20000"/>
          </a:bodyPr>
          <a:lstStyle/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ช่วงคะแนน 	80-100 	ได้ผลการเรียน 	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A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ช่วงคะแนน 	75 - 79 	ได้ผลการเรียน 	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B+ 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ช่วงคะแนน 	70 - 74 	ได้ผลการเรียน	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B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ช่วงคะแนน  	65 - 69 	ได้ผลการเรียน 	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C+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ช่วงคะแนน  	60 - 64 	ได้ผลการเรียน 	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C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ช่วงคะแนน  	55 - 59 	ได้ผลการเรียน 	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D+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ช่วงคะแนน  	50 - 54 	ได้ผลการเรียน 	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D </a:t>
            </a:r>
          </a:p>
          <a:p>
            <a:r>
              <a:rPr lang="th-TH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ช่วงคะแนน  	0 - 49 	ได้ผลการเรียน 	</a:t>
            </a:r>
            <a:r>
              <a:rPr lang="en-US" sz="4000" b="1" dirty="0">
                <a:solidFill>
                  <a:srgbClr val="0070C0"/>
                </a:solidFill>
                <a:latin typeface="TH Baijam" panose="02000506000000020004" pitchFamily="2" charset="-34"/>
                <a:ea typeface="+mj-ea"/>
                <a:cs typeface="TH Baijam" panose="02000506000000020004" pitchFamily="2" charset="-34"/>
              </a:rPr>
              <a:t>F </a:t>
            </a:r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8258615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206F74C-A036-2452-C75C-0747A56DA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365125"/>
            <a:ext cx="10891887" cy="1325563"/>
          </a:xfrm>
        </p:spPr>
        <p:txBody>
          <a:bodyPr>
            <a:normAutofit/>
          </a:bodyPr>
          <a:lstStyle/>
          <a:p>
            <a:r>
              <a:rPr lang="en-US" sz="7200" b="1" dirty="0">
                <a:solidFill>
                  <a:srgbClr val="00B0F0"/>
                </a:solidFill>
                <a:latin typeface="TH Baijam" panose="02000506000000020004" pitchFamily="2" charset="-34"/>
                <a:cs typeface="TH Baijam" panose="02000506000000020004" pitchFamily="2" charset="-34"/>
              </a:rPr>
              <a:t>Q&amp;A</a:t>
            </a:r>
            <a:endParaRPr lang="th-TH" sz="7200" b="1" dirty="0">
              <a:solidFill>
                <a:srgbClr val="00B0F0"/>
              </a:solidFill>
              <a:latin typeface="TH Baijam" panose="02000506000000020004" pitchFamily="2" charset="-34"/>
              <a:cs typeface="TH Baijam" panose="02000506000000020004" pitchFamily="2" charset="-34"/>
            </a:endParaRP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3DE4CF6-FF45-0DE0-E766-D91ECBDE5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13" y="1825625"/>
            <a:ext cx="11472421" cy="4351338"/>
          </a:xfrm>
        </p:spPr>
        <p:txBody>
          <a:bodyPr>
            <a:normAutofit/>
          </a:bodyPr>
          <a:lstStyle/>
          <a:p>
            <a:endParaRPr lang="th-TH" sz="4000" b="1" dirty="0">
              <a:solidFill>
                <a:srgbClr val="0070C0"/>
              </a:solidFill>
              <a:latin typeface="TH Baijam" panose="02000506000000020004" pitchFamily="2" charset="-34"/>
              <a:ea typeface="+mj-ea"/>
              <a:cs typeface="TH Baijam" panose="02000506000000020004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954100240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1309</Words>
  <Application>Microsoft Office PowerPoint</Application>
  <PresentationFormat>แบบจอกว้าง</PresentationFormat>
  <Paragraphs>189</Paragraphs>
  <Slides>27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6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27</vt:i4>
      </vt:variant>
    </vt:vector>
  </HeadingPairs>
  <TitlesOfParts>
    <vt:vector size="34" baseType="lpstr">
      <vt:lpstr>Amasis MT Pro Black</vt:lpstr>
      <vt:lpstr>Aptos</vt:lpstr>
      <vt:lpstr>Aptos Display</vt:lpstr>
      <vt:lpstr>Aptos ExtraBold</vt:lpstr>
      <vt:lpstr>Arial</vt:lpstr>
      <vt:lpstr>TH Baijam</vt:lpstr>
      <vt:lpstr>ธีมของ Office</vt:lpstr>
      <vt:lpstr>OCCUPATIONAL HEALTH AND SAFETY</vt:lpstr>
      <vt:lpstr>แนะนำรายวิชา</vt:lpstr>
      <vt:lpstr>สังเขปรายวิชา</vt:lpstr>
      <vt:lpstr>Course Learning Outcomes (CLOs)</vt:lpstr>
      <vt:lpstr>Course Learning Outcomes (CLOs)</vt:lpstr>
      <vt:lpstr>Course Learning Outcomes (CLOs)</vt:lpstr>
      <vt:lpstr>มาตรฐานอาชีวอนามัยและความปลอดภัย</vt:lpstr>
      <vt:lpstr>สถานการณ์ปัจจุบันด้านความปลอดภัย</vt:lpstr>
      <vt:lpstr>การวิเคราะห์สาเหตุอันตราย</vt:lpstr>
      <vt:lpstr>ผลที่เกิดจากอันตรายในการปฏิบัติงานและแนวทางการลดผลกระทบ</vt:lpstr>
      <vt:lpstr>พื้นฐานการป้องกันอุบัติเหตุ</vt:lpstr>
      <vt:lpstr>มาตรการป้องกันอุบัติเหตุ</vt:lpstr>
      <vt:lpstr>การประเมินความเสี่ยง (1)</vt:lpstr>
      <vt:lpstr>สอบกลางภาค</vt:lpstr>
      <vt:lpstr>การประเมินความเสี่ยง (2)</vt:lpstr>
      <vt:lpstr>หลักวิศวกรรมความปลอดภัย</vt:lpstr>
      <vt:lpstr>การออกแบบและควบคุมทางวิศวกรรมความปลอดภัย</vt:lpstr>
      <vt:lpstr>ความปลอดภัยในการใช้เครื่องมือ</vt:lpstr>
      <vt:lpstr>การส่งเสริมความปลอดภัยในองค์กร</vt:lpstr>
      <vt:lpstr>กรณีศึกษาความปลอดภัย I</vt:lpstr>
      <vt:lpstr>กรณีศึกษาความปลอดภัย II และบทสรุป</vt:lpstr>
      <vt:lpstr>นำเสนอรายงาน</vt:lpstr>
      <vt:lpstr>สอบปลายภาค</vt:lpstr>
      <vt:lpstr>การประเมินผลการเรียน</vt:lpstr>
      <vt:lpstr>Course Policies</vt:lpstr>
      <vt:lpstr>Grading policy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Koson Trachu</dc:creator>
  <cp:lastModifiedBy>Koson Trachu</cp:lastModifiedBy>
  <cp:revision>2</cp:revision>
  <dcterms:created xsi:type="dcterms:W3CDTF">2024-06-30T14:39:21Z</dcterms:created>
  <dcterms:modified xsi:type="dcterms:W3CDTF">2026-07-01T15:52:41Z</dcterms:modified>
</cp:coreProperties>
</file>