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85" r:id="rId5"/>
    <p:sldId id="288" r:id="rId6"/>
    <p:sldId id="289" r:id="rId7"/>
    <p:sldId id="287" r:id="rId8"/>
    <p:sldId id="286" r:id="rId9"/>
    <p:sldId id="290" r:id="rId10"/>
    <p:sldId id="291" r:id="rId11"/>
    <p:sldId id="292" r:id="rId12"/>
    <p:sldId id="293" r:id="rId13"/>
    <p:sldId id="294" r:id="rId14"/>
    <p:sldId id="295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284" r:id="rId30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สไตล์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411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son Trachu" userId="8b674c4b66ffeb50" providerId="LiveId" clId="{4CED9805-9309-44B9-AEC7-99BC4938B5DC}"/>
    <pc:docChg chg="undo redo custSel addSld delSld modSld">
      <pc:chgData name="Koson Trachu" userId="8b674c4b66ffeb50" providerId="LiveId" clId="{4CED9805-9309-44B9-AEC7-99BC4938B5DC}" dt="2024-06-30T17:37:11.363" v="4185" actId="20577"/>
      <pc:docMkLst>
        <pc:docMk/>
      </pc:docMkLst>
      <pc:sldChg chg="del">
        <pc:chgData name="Koson Trachu" userId="8b674c4b66ffeb50" providerId="LiveId" clId="{4CED9805-9309-44B9-AEC7-99BC4938B5DC}" dt="2024-06-30T15:20:18.229" v="17" actId="47"/>
        <pc:sldMkLst>
          <pc:docMk/>
          <pc:sldMk cId="3113640326" sldId="257"/>
        </pc:sldMkLst>
      </pc:sldChg>
      <pc:sldChg chg="modSp mod">
        <pc:chgData name="Koson Trachu" userId="8b674c4b66ffeb50" providerId="LiveId" clId="{4CED9805-9309-44B9-AEC7-99BC4938B5DC}" dt="2024-06-30T17:28:07.528" v="4049" actId="2711"/>
        <pc:sldMkLst>
          <pc:docMk/>
          <pc:sldMk cId="3178667395" sldId="259"/>
        </pc:sldMkLst>
      </pc:sldChg>
      <pc:sldChg chg="addSp delSp modSp mod">
        <pc:chgData name="Koson Trachu" userId="8b674c4b66ffeb50" providerId="LiveId" clId="{4CED9805-9309-44B9-AEC7-99BC4938B5DC}" dt="2024-06-30T17:28:33.889" v="4062" actId="20577"/>
        <pc:sldMkLst>
          <pc:docMk/>
          <pc:sldMk cId="636511284" sldId="261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3590029574" sldId="262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1773564250" sldId="263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696269368" sldId="264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3436851357" sldId="265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871711145" sldId="266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4036662656" sldId="267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3599903785" sldId="268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3040962946" sldId="269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3238134617" sldId="270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3985237345" sldId="271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796751290" sldId="272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1338310598" sldId="273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173084544" sldId="274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3162864918" sldId="275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200064893" sldId="276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3576856218" sldId="277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3004585906" sldId="278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4285979732" sldId="279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3648279797" sldId="280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879133700" sldId="281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342897834" sldId="282"/>
        </pc:sldMkLst>
      </pc:sldChg>
      <pc:sldChg chg="del">
        <pc:chgData name="Koson Trachu" userId="8b674c4b66ffeb50" providerId="LiveId" clId="{4CED9805-9309-44B9-AEC7-99BC4938B5DC}" dt="2024-06-30T15:20:23.753" v="18" actId="47"/>
        <pc:sldMkLst>
          <pc:docMk/>
          <pc:sldMk cId="3825861502" sldId="283"/>
        </pc:sldMkLst>
      </pc:sldChg>
      <pc:sldChg chg="modSp add mod">
        <pc:chgData name="Koson Trachu" userId="8b674c4b66ffeb50" providerId="LiveId" clId="{4CED9805-9309-44B9-AEC7-99BC4938B5DC}" dt="2024-06-30T15:41:28.249" v="429" actId="20577"/>
        <pc:sldMkLst>
          <pc:docMk/>
          <pc:sldMk cId="2186581119" sldId="285"/>
        </pc:sldMkLst>
      </pc:sldChg>
      <pc:sldChg chg="modSp add mod">
        <pc:chgData name="Koson Trachu" userId="8b674c4b66ffeb50" providerId="LiveId" clId="{4CED9805-9309-44B9-AEC7-99BC4938B5DC}" dt="2024-06-30T15:47:00.016" v="765" actId="403"/>
        <pc:sldMkLst>
          <pc:docMk/>
          <pc:sldMk cId="722367519" sldId="286"/>
        </pc:sldMkLst>
      </pc:sldChg>
      <pc:sldChg chg="modSp add mod">
        <pc:chgData name="Koson Trachu" userId="8b674c4b66ffeb50" providerId="LiveId" clId="{4CED9805-9309-44B9-AEC7-99BC4938B5DC}" dt="2024-06-30T15:55:14.720" v="1385" actId="20577"/>
        <pc:sldMkLst>
          <pc:docMk/>
          <pc:sldMk cId="3133470835" sldId="287"/>
        </pc:sldMkLst>
      </pc:sldChg>
      <pc:sldChg chg="modSp add mod">
        <pc:chgData name="Koson Trachu" userId="8b674c4b66ffeb50" providerId="LiveId" clId="{4CED9805-9309-44B9-AEC7-99BC4938B5DC}" dt="2024-06-30T15:58:06.396" v="1562" actId="14100"/>
        <pc:sldMkLst>
          <pc:docMk/>
          <pc:sldMk cId="3611351450" sldId="288"/>
        </pc:sldMkLst>
      </pc:sldChg>
      <pc:sldChg chg="modSp add mod">
        <pc:chgData name="Koson Trachu" userId="8b674c4b66ffeb50" providerId="LiveId" clId="{4CED9805-9309-44B9-AEC7-99BC4938B5DC}" dt="2024-06-30T16:03:05.180" v="1965" actId="20577"/>
        <pc:sldMkLst>
          <pc:docMk/>
          <pc:sldMk cId="3016409098" sldId="289"/>
        </pc:sldMkLst>
      </pc:sldChg>
      <pc:sldChg chg="modSp add mod">
        <pc:chgData name="Koson Trachu" userId="8b674c4b66ffeb50" providerId="LiveId" clId="{4CED9805-9309-44B9-AEC7-99BC4938B5DC}" dt="2024-06-30T16:08:27.976" v="2271" actId="6549"/>
        <pc:sldMkLst>
          <pc:docMk/>
          <pc:sldMk cId="3151882463" sldId="290"/>
        </pc:sldMkLst>
      </pc:sldChg>
      <pc:sldChg chg="modSp add mod">
        <pc:chgData name="Koson Trachu" userId="8b674c4b66ffeb50" providerId="LiveId" clId="{4CED9805-9309-44B9-AEC7-99BC4938B5DC}" dt="2024-06-30T16:13:52.858" v="2511" actId="20577"/>
        <pc:sldMkLst>
          <pc:docMk/>
          <pc:sldMk cId="1116601081" sldId="291"/>
        </pc:sldMkLst>
      </pc:sldChg>
      <pc:sldChg chg="modSp add mod">
        <pc:chgData name="Koson Trachu" userId="8b674c4b66ffeb50" providerId="LiveId" clId="{4CED9805-9309-44B9-AEC7-99BC4938B5DC}" dt="2024-06-30T16:15:09.330" v="2622" actId="20577"/>
        <pc:sldMkLst>
          <pc:docMk/>
          <pc:sldMk cId="231535410" sldId="292"/>
        </pc:sldMkLst>
      </pc:sldChg>
      <pc:sldChg chg="modSp add mod">
        <pc:chgData name="Koson Trachu" userId="8b674c4b66ffeb50" providerId="LiveId" clId="{4CED9805-9309-44B9-AEC7-99BC4938B5DC}" dt="2024-06-30T16:16:12.843" v="2691" actId="20577"/>
        <pc:sldMkLst>
          <pc:docMk/>
          <pc:sldMk cId="1926706849" sldId="293"/>
        </pc:sldMkLst>
      </pc:sldChg>
      <pc:sldChg chg="modSp add mod">
        <pc:chgData name="Koson Trachu" userId="8b674c4b66ffeb50" providerId="LiveId" clId="{4CED9805-9309-44B9-AEC7-99BC4938B5DC}" dt="2024-06-30T16:17:37.955" v="2815" actId="20577"/>
        <pc:sldMkLst>
          <pc:docMk/>
          <pc:sldMk cId="370094845" sldId="294"/>
        </pc:sldMkLst>
      </pc:sldChg>
      <pc:sldChg chg="modSp add mod">
        <pc:chgData name="Koson Trachu" userId="8b674c4b66ffeb50" providerId="LiveId" clId="{4CED9805-9309-44B9-AEC7-99BC4938B5DC}" dt="2024-06-30T16:18:35.253" v="2922" actId="20577"/>
        <pc:sldMkLst>
          <pc:docMk/>
          <pc:sldMk cId="2727154474" sldId="295"/>
        </pc:sldMkLst>
      </pc:sldChg>
      <pc:sldChg chg="addSp modSp add mod">
        <pc:chgData name="Koson Trachu" userId="8b674c4b66ffeb50" providerId="LiveId" clId="{4CED9805-9309-44B9-AEC7-99BC4938B5DC}" dt="2024-06-30T17:30:31.425" v="4093" actId="1076"/>
        <pc:sldMkLst>
          <pc:docMk/>
          <pc:sldMk cId="2536049240" sldId="296"/>
        </pc:sldMkLst>
      </pc:sldChg>
      <pc:sldChg chg="delSp modSp add del mod">
        <pc:chgData name="Koson Trachu" userId="8b674c4b66ffeb50" providerId="LiveId" clId="{4CED9805-9309-44B9-AEC7-99BC4938B5DC}" dt="2024-06-30T16:58:28.815" v="3370" actId="12"/>
        <pc:sldMkLst>
          <pc:docMk/>
          <pc:sldMk cId="4193409487" sldId="297"/>
        </pc:sldMkLst>
      </pc:sldChg>
      <pc:sldChg chg="modSp add mod">
        <pc:chgData name="Koson Trachu" userId="8b674c4b66ffeb50" providerId="LiveId" clId="{4CED9805-9309-44B9-AEC7-99BC4938B5DC}" dt="2024-06-30T17:31:21.138" v="4101" actId="6549"/>
        <pc:sldMkLst>
          <pc:docMk/>
          <pc:sldMk cId="2948051439" sldId="298"/>
        </pc:sldMkLst>
      </pc:sldChg>
      <pc:sldChg chg="modSp add mod">
        <pc:chgData name="Koson Trachu" userId="8b674c4b66ffeb50" providerId="LiveId" clId="{4CED9805-9309-44B9-AEC7-99BC4938B5DC}" dt="2024-06-30T17:33:31.195" v="4131" actId="20577"/>
        <pc:sldMkLst>
          <pc:docMk/>
          <pc:sldMk cId="4134280060" sldId="299"/>
        </pc:sldMkLst>
      </pc:sldChg>
      <pc:sldChg chg="modSp add mod">
        <pc:chgData name="Koson Trachu" userId="8b674c4b66ffeb50" providerId="LiveId" clId="{4CED9805-9309-44B9-AEC7-99BC4938B5DC}" dt="2024-06-30T17:37:11.363" v="4185" actId="20577"/>
        <pc:sldMkLst>
          <pc:docMk/>
          <pc:sldMk cId="1979252819" sldId="300"/>
        </pc:sldMkLst>
      </pc:sldChg>
      <pc:sldChg chg="modSp add mod replId">
        <pc:chgData name="Koson Trachu" userId="8b674c4b66ffeb50" providerId="LiveId" clId="{4CED9805-9309-44B9-AEC7-99BC4938B5DC}" dt="2024-06-30T16:58:07.358" v="3366" actId="12"/>
        <pc:sldMkLst>
          <pc:docMk/>
          <pc:sldMk cId="1834436640" sldId="301"/>
        </pc:sldMkLst>
      </pc:sldChg>
      <pc:sldChg chg="modSp add mod replId">
        <pc:chgData name="Koson Trachu" userId="8b674c4b66ffeb50" providerId="LiveId" clId="{4CED9805-9309-44B9-AEC7-99BC4938B5DC}" dt="2024-06-30T17:01:33.131" v="3387" actId="20577"/>
        <pc:sldMkLst>
          <pc:docMk/>
          <pc:sldMk cId="1782027993" sldId="302"/>
        </pc:sldMkLst>
      </pc:sldChg>
      <pc:sldChg chg="modSp add mod">
        <pc:chgData name="Koson Trachu" userId="8b674c4b66ffeb50" providerId="LiveId" clId="{4CED9805-9309-44B9-AEC7-99BC4938B5DC}" dt="2024-06-30T17:02:18.910" v="3459" actId="20577"/>
        <pc:sldMkLst>
          <pc:docMk/>
          <pc:sldMk cId="3497995301" sldId="303"/>
        </pc:sldMkLst>
      </pc:sldChg>
      <pc:sldChg chg="modSp add mod">
        <pc:chgData name="Koson Trachu" userId="8b674c4b66ffeb50" providerId="LiveId" clId="{4CED9805-9309-44B9-AEC7-99BC4938B5DC}" dt="2024-06-30T17:12:59.737" v="3530"/>
        <pc:sldMkLst>
          <pc:docMk/>
          <pc:sldMk cId="2669101778" sldId="304"/>
        </pc:sldMkLst>
      </pc:sldChg>
      <pc:sldChg chg="modSp add mod">
        <pc:chgData name="Koson Trachu" userId="8b674c4b66ffeb50" providerId="LiveId" clId="{4CED9805-9309-44B9-AEC7-99BC4938B5DC}" dt="2024-06-30T17:16:50.303" v="3816" actId="15"/>
        <pc:sldMkLst>
          <pc:docMk/>
          <pc:sldMk cId="3369102590" sldId="305"/>
        </pc:sldMkLst>
      </pc:sldChg>
      <pc:sldChg chg="modSp add mod">
        <pc:chgData name="Koson Trachu" userId="8b674c4b66ffeb50" providerId="LiveId" clId="{4CED9805-9309-44B9-AEC7-99BC4938B5DC}" dt="2024-06-30T17:17:04.173" v="3821" actId="12"/>
        <pc:sldMkLst>
          <pc:docMk/>
          <pc:sldMk cId="711868401" sldId="306"/>
        </pc:sldMkLst>
      </pc:sldChg>
      <pc:sldChg chg="modSp add mod">
        <pc:chgData name="Koson Trachu" userId="8b674c4b66ffeb50" providerId="LiveId" clId="{4CED9805-9309-44B9-AEC7-99BC4938B5DC}" dt="2024-06-30T17:17:48.943" v="3878" actId="20577"/>
        <pc:sldMkLst>
          <pc:docMk/>
          <pc:sldMk cId="2151283251" sldId="307"/>
        </pc:sldMkLst>
      </pc:sldChg>
      <pc:sldChg chg="addSp modSp add mod">
        <pc:chgData name="Koson Trachu" userId="8b674c4b66ffeb50" providerId="LiveId" clId="{4CED9805-9309-44B9-AEC7-99BC4938B5DC}" dt="2024-06-30T17:21:15.314" v="3916" actId="20577"/>
        <pc:sldMkLst>
          <pc:docMk/>
          <pc:sldMk cId="3641798081" sldId="308"/>
        </pc:sldMkLst>
      </pc:sldChg>
      <pc:sldChg chg="addSp delSp modSp add mod">
        <pc:chgData name="Koson Trachu" userId="8b674c4b66ffeb50" providerId="LiveId" clId="{4CED9805-9309-44B9-AEC7-99BC4938B5DC}" dt="2024-06-30T17:23:52.801" v="3974" actId="404"/>
        <pc:sldMkLst>
          <pc:docMk/>
          <pc:sldMk cId="3274095665" sldId="309"/>
        </pc:sldMkLst>
      </pc:sldChg>
      <pc:sldChg chg="addSp delSp modSp add mod">
        <pc:chgData name="Koson Trachu" userId="8b674c4b66ffeb50" providerId="LiveId" clId="{4CED9805-9309-44B9-AEC7-99BC4938B5DC}" dt="2024-06-30T17:26:54.966" v="4022" actId="1076"/>
        <pc:sldMkLst>
          <pc:docMk/>
          <pc:sldMk cId="2778638231" sldId="310"/>
        </pc:sldMkLst>
      </pc:sldChg>
    </pc:docChg>
  </pc:docChgLst>
  <pc:docChgLst>
    <pc:chgData name="Koson Trachu" userId="8b674c4b66ffeb50" providerId="LiveId" clId="{D528C8DE-1811-4CCE-A0C4-5C211B47C055}"/>
    <pc:docChg chg="modSld sldOrd">
      <pc:chgData name="Koson Trachu" userId="8b674c4b66ffeb50" providerId="LiveId" clId="{D528C8DE-1811-4CCE-A0C4-5C211B47C055}" dt="2025-08-01T06:30:31.888" v="3"/>
      <pc:docMkLst>
        <pc:docMk/>
      </pc:docMkLst>
      <pc:sldChg chg="ord">
        <pc:chgData name="Koson Trachu" userId="8b674c4b66ffeb50" providerId="LiveId" clId="{D528C8DE-1811-4CCE-A0C4-5C211B47C055}" dt="2025-08-01T06:30:31.888" v="3"/>
        <pc:sldMkLst>
          <pc:docMk/>
          <pc:sldMk cId="722367519" sldId="286"/>
        </pc:sldMkLst>
      </pc:sldChg>
      <pc:sldChg chg="ord">
        <pc:chgData name="Koson Trachu" userId="8b674c4b66ffeb50" providerId="LiveId" clId="{D528C8DE-1811-4CCE-A0C4-5C211B47C055}" dt="2025-08-01T06:30:29.165" v="1"/>
        <pc:sldMkLst>
          <pc:docMk/>
          <pc:sldMk cId="3133470835" sldId="287"/>
        </pc:sldMkLst>
      </pc:sldChg>
    </pc:docChg>
  </pc:docChgLst>
  <pc:docChgLst>
    <pc:chgData name="Koson Trachu" userId="8b674c4b66ffeb50" providerId="LiveId" clId="{58274560-F163-4EB7-A6B4-37CC3F8157AD}"/>
    <pc:docChg chg="custSel delSld modSld">
      <pc:chgData name="Koson Trachu" userId="8b674c4b66ffeb50" providerId="LiveId" clId="{58274560-F163-4EB7-A6B4-37CC3F8157AD}" dt="2025-07-03T20:10:30.975" v="3" actId="2696"/>
      <pc:docMkLst>
        <pc:docMk/>
      </pc:docMkLst>
      <pc:sldChg chg="addSp delSp modSp mod">
        <pc:chgData name="Koson Trachu" userId="8b674c4b66ffeb50" providerId="LiveId" clId="{58274560-F163-4EB7-A6B4-37CC3F8157AD}" dt="2025-07-03T20:03:52.230" v="0" actId="478"/>
        <pc:sldMkLst>
          <pc:docMk/>
          <pc:sldMk cId="3178667395" sldId="259"/>
        </pc:sldMkLst>
        <pc:spChg chg="add mod">
          <ac:chgData name="Koson Trachu" userId="8b674c4b66ffeb50" providerId="LiveId" clId="{58274560-F163-4EB7-A6B4-37CC3F8157AD}" dt="2025-07-03T20:03:52.230" v="0" actId="478"/>
          <ac:spMkLst>
            <pc:docMk/>
            <pc:sldMk cId="3178667395" sldId="259"/>
            <ac:spMk id="5" creationId="{769B09A2-F08E-AE99-3301-FC7A9A545FD4}"/>
          </ac:spMkLst>
        </pc:spChg>
      </pc:sldChg>
      <pc:sldChg chg="modSp mod">
        <pc:chgData name="Koson Trachu" userId="8b674c4b66ffeb50" providerId="LiveId" clId="{58274560-F163-4EB7-A6B4-37CC3F8157AD}" dt="2025-07-03T20:09:35.583" v="2" actId="6549"/>
        <pc:sldMkLst>
          <pc:docMk/>
          <pc:sldMk cId="636511284" sldId="261"/>
        </pc:sldMkLst>
        <pc:spChg chg="mod">
          <ac:chgData name="Koson Trachu" userId="8b674c4b66ffeb50" providerId="LiveId" clId="{58274560-F163-4EB7-A6B4-37CC3F8157AD}" dt="2025-07-03T20:09:35.583" v="2" actId="6549"/>
          <ac:spMkLst>
            <pc:docMk/>
            <pc:sldMk cId="636511284" sldId="261"/>
            <ac:spMk id="3" creationId="{A64BB3EC-757F-63B3-5907-B8AB7507EFE9}"/>
          </ac:spMkLst>
        </pc:spChg>
      </pc:sldChg>
      <pc:sldChg chg="del">
        <pc:chgData name="Koson Trachu" userId="8b674c4b66ffeb50" providerId="LiveId" clId="{58274560-F163-4EB7-A6B4-37CC3F8157AD}" dt="2025-07-03T20:10:30.975" v="3" actId="2696"/>
        <pc:sldMkLst>
          <pc:docMk/>
          <pc:sldMk cId="2536049240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3AD89D4-597C-95DA-37E5-37B84F457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6304FBC6-02B0-7602-427E-E7E3EB222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77BDC8A7-0F4A-E3C4-85F8-F3E043D1B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01/08/68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E8C38B82-D79F-3653-A5C2-787055952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F455073-48BB-8071-B0AC-EBC3A125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19164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7C445DE-F7B1-9D42-8C67-908D438F1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DB54ECFE-E893-9CAD-4640-5B3A96B9A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E4F9B173-10FE-E6DA-1280-75141CD20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01/08/68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844D1293-952D-A9DE-6975-907EC690E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70A9C976-21D3-0E00-E3B4-278441F41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00722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84CC75E-F6BC-CC85-B353-2627B9271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8921235E-F459-260F-00F5-417BEF90D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B4A180EE-DF14-62C6-3B3C-677FFADFF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01/08/68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09D4482A-27E2-ED42-555F-A0A030A2E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CE2A1086-79FB-9477-64C7-59ECE3797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35088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B4949F4-4DE4-5716-5E59-B75341E87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C44EC94E-D2A9-D212-613E-40E92AD42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8E8DF3DE-C94C-0079-2763-3BE53DE46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4B7AF367-867F-5F6A-4905-1A9635C1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01/08/68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7A9FA14C-A89A-1ABC-F161-0B6231494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498098E5-03E9-7B5C-0A5F-BDB162B74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1042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A7FC808-35E8-2DD5-8B85-B3DB4ADC0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3F52CBAF-074A-924E-4775-4BF8A2A1B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95D2EA15-D219-7863-FA0E-3D5EDAE0C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F5769578-F641-DF68-FB5D-9914B63CE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7E362AF0-6B96-2F11-7A45-BD02A295CE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F94B6FD8-22DF-082C-5233-627BE584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01/08/68</a:t>
            </a:fld>
            <a:endParaRPr lang="th-TH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77E0A273-D83A-F3DC-AC74-A615F95B9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A9DB6FC3-7B29-5A32-3B0E-09B59A022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95388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B062AEF-4326-1231-C749-4330CD390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FA2D42DA-EA0E-2AE8-96AE-031C616C4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01/08/68</a:t>
            </a:fld>
            <a:endParaRPr lang="th-TH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CF1BCE6A-09ED-BBBD-5AEB-3BEB44E7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97635A4C-3668-2DA5-E694-9F9D5CFE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5781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4FE5329F-AC61-DD00-94EF-6E7ACB2E7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01/08/68</a:t>
            </a:fld>
            <a:endParaRPr lang="th-TH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52BD09A1-BD3E-4044-DC40-EAA4A52FE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9393646E-AB09-BFFF-449A-2CCB5A81E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10601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7C6ACCF-44C3-A370-CDD4-4984E9AB7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885F1E6-9803-3CDC-068A-AA1C2D71D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292EE6E0-61FC-0F47-8060-CDE5ACC78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AFB1C9D4-7B57-EF86-E52D-0626C841E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01/08/68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C4041A53-1D1C-8937-9605-6F115FD0B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94B1827E-E1FE-9E47-3933-74FD30E5C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99178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8A294FE-BB24-A6C4-9949-061A59690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CED7A592-BE3B-EADA-9738-78399CFCF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C2A9A03D-E536-9F68-6D49-D4A7FD326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1E10BBD8-BBFC-F847-73DA-260AEA505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01/08/68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5FB08E4A-5893-D142-C0E1-25550985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CBCE0801-8EE3-A24B-79D6-D4E139B6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54758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710015D-2FA7-8BF3-A5B5-028E2A4A9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9C9DB246-37EA-59CD-1DEC-499D3E205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D16630BE-5FEC-75CD-D894-44EB592AF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01/08/68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2FBD77AA-C4E6-7E09-4508-15752EAA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07C039FA-C22E-E822-BB87-CF196C826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6720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5677B94E-188F-812B-22B1-D38C418E34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BCB6F9A7-5380-E786-652E-6D76138DF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54DB0929-27C0-DCA2-2854-4D4437152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01/08/68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16D831A1-C806-3A08-822D-D95C44A15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21181C24-1BA6-FEE2-4050-41BEB8EF1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18688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69D4F646-FA7D-D369-92E7-BA53E063C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63D033AB-5DCC-29A1-3123-69AC8E344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60026688-E998-F57E-2AE5-714183133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5C1538-8C98-4875-B6F9-9E8B91097087}" type="datetimeFigureOut">
              <a:rPr lang="th-TH" smtClean="0"/>
              <a:t>01/08/68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9BF3E694-22E5-0E4B-4BF9-579364AC6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C22277EF-C69F-3CCD-5A00-48C8FA390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26864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so.go.th/nsoweb/nso/survey_detail/9u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lo.org/" TargetMode="External"/><Relationship Id="rId2" Type="http://schemas.openxmlformats.org/officeDocument/2006/relationships/hyperlink" Target="https://www.who.int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law.industry.go.th/laws/detail/32669" TargetMode="External"/><Relationship Id="rId2" Type="http://schemas.openxmlformats.org/officeDocument/2006/relationships/hyperlink" Target="https://www.industry.go.th/th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law.industry.go.th/laws/detail/32667" TargetMode="External"/><Relationship Id="rId4" Type="http://schemas.openxmlformats.org/officeDocument/2006/relationships/hyperlink" Target="https://www.diw.go.th/webdiw/law-haz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aws.anamai.moph.go.th/web-upload/14xcc0f5638f262f918558abe1085de08b4/m_magazine/37966/4187/file_download/3c8789b7308f083c11b8c441051e9e3f.pdf" TargetMode="External"/><Relationship Id="rId2" Type="http://schemas.openxmlformats.org/officeDocument/2006/relationships/hyperlink" Target="https://www.moph.go.th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namai.moph.go.th/th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bour.go.th/" TargetMode="External"/><Relationship Id="rId2" Type="http://schemas.openxmlformats.org/officeDocument/2006/relationships/hyperlink" Target="https://www.mol.go.th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sd.go.th/" TargetMode="External"/><Relationship Id="rId5" Type="http://schemas.openxmlformats.org/officeDocument/2006/relationships/hyperlink" Target="https://www.sso.go.th/wpr/" TargetMode="External"/><Relationship Id="rId4" Type="http://schemas.openxmlformats.org/officeDocument/2006/relationships/hyperlink" Target="https://legal.labour.go.th/%E0%B8%81%E0%B8%8E%E0%B8%AB%E0%B8%A1%E0%B8%B2%E0%B8%A2?id=17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a.go.th/nitikan/?page_id=1694" TargetMode="External"/><Relationship Id="rId2" Type="http://schemas.openxmlformats.org/officeDocument/2006/relationships/hyperlink" Target="https://www.moac.go.th/site-hom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MzICsGxegL0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id.mod.go.th/Home.aspx" TargetMode="External"/><Relationship Id="rId2" Type="http://schemas.openxmlformats.org/officeDocument/2006/relationships/hyperlink" Target="https://www.mod.go.th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id.mod.go.th/%E0%B8%81%E0%B8%8E%E0%B8%AB%E0%B8%A1%E0%B8%B2%E0%B8%A2%E0%B8%97%E0%B9%80%E0%B8%81%E0%B8%A2%E0%B8%A7%E0%B8%82%E0%B8%AD%E0%B8%87-Legal-Translation.aspx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cd.go.th/lawstype/%E0%B8%9E%E0%B8%A3%E0%B8%B0%E0%B8%A3%E0%B8%B2%E0%B8%8A%E0%B8%9A%E0%B8%B1%E0%B8%8D%E0%B8%8D%E0%B8%B1%E0%B8%95%E0%B8%B4%E0%B8%AA%E0%B9%88%E0%B8%87%E0%B9%80%E0%B8%AA%E0%B8%A3%E0%B8%B4%E0%B8%A1%E0%B9%81/" TargetMode="External"/><Relationship Id="rId2" Type="http://schemas.openxmlformats.org/officeDocument/2006/relationships/hyperlink" Target="https://www.mnre.go.th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so.go.th/wpr/main/privilege/%E0%B8%82%E0%B9%89%E0%B8%AD%E0%B8%A1%E0%B8%B9%E0%B8%A5%E0%B8%AA%E0%B8%96%E0%B8%B4%E0%B8%95%E0%B8%B4%E0%B8%81%E0%B8%AD%E0%B8%87%E0%B8%97%E0%B8%B8%E0%B8%99%E0%B9%80%E0%B8%87%E0%B8%B4%E0%B8%99%E0%B8%97%E0%B8%94%E0%B9%81%E0%B8%97%E0%B8%99_sub_category_list-label_1_169_745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tosh.or.th/index.php/blog/item/475-quality-of-working-life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sh.or.th/index.php/blog/item/475-quality-of-working-life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hyperlink" Target="https://www.tosh.or.th/index.php/tosh-news/tosh-promote/278-occupational-safety-and-health-standard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E48B0B3-872D-88BC-3390-DE3CA1FF4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776" y="1454846"/>
            <a:ext cx="11340445" cy="2387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  <a:latin typeface="Amasis MT Pro Black" panose="020F0502020204030204" pitchFamily="18" charset="0"/>
              </a:rPr>
              <a:t>OCCUPATIONAL HEALTH AND SAFETY</a:t>
            </a:r>
            <a:endParaRPr lang="th-TH" dirty="0">
              <a:solidFill>
                <a:srgbClr val="00B0F0"/>
              </a:solidFill>
              <a:latin typeface="Amasis MT Pro Black" panose="020F0502020204030204" pitchFamily="18" charset="0"/>
            </a:endParaRP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59637D75-1DD7-1ED4-E33B-DA6576A013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3931976"/>
            <a:ext cx="9144000" cy="1655762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  <a:latin typeface="Aptos ExtraBold" panose="020F0502020204030204" pitchFamily="34" charset="0"/>
              </a:rPr>
              <a:t>03376119</a:t>
            </a:r>
            <a:endParaRPr lang="th-TH" sz="3600" b="1" dirty="0">
              <a:solidFill>
                <a:srgbClr val="0070C0"/>
              </a:solidFill>
              <a:latin typeface="Aptos ExtraBold" panose="020F0502020204030204" pitchFamily="34" charset="0"/>
            </a:endParaRPr>
          </a:p>
        </p:txBody>
      </p:sp>
      <p:sp>
        <p:nvSpPr>
          <p:cNvPr id="6" name="ชื่อเรื่อง 1">
            <a:extLst>
              <a:ext uri="{FF2B5EF4-FFF2-40B4-BE49-F238E27FC236}">
                <a16:creationId xmlns:a16="http://schemas.microsoft.com/office/drawing/2014/main" id="{32400738-B931-869B-CC4A-EFE8AEA2CCB3}"/>
              </a:ext>
            </a:extLst>
          </p:cNvPr>
          <p:cNvSpPr txBox="1">
            <a:spLocks/>
          </p:cNvSpPr>
          <p:nvPr/>
        </p:nvSpPr>
        <p:spPr>
          <a:xfrm>
            <a:off x="425777" y="2612272"/>
            <a:ext cx="11340445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th-TH" b="1" dirty="0">
              <a:solidFill>
                <a:srgbClr val="00B0F0"/>
              </a:solidFill>
              <a:latin typeface="TH Baijam" panose="02000506000000020004" pitchFamily="2" charset="-34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1182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404CA01-F50A-0C52-2A13-CF98E5AAA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138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หน่วยที่ 1</a:t>
            </a:r>
            <a:endParaRPr lang="th-TH" sz="13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B09A2-F08E-AE99-3301-FC7A9A545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78667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36" y="365125"/>
            <a:ext cx="11563546" cy="1325563"/>
          </a:xfrm>
        </p:spPr>
        <p:txBody>
          <a:bodyPr>
            <a:normAutofit/>
          </a:bodyPr>
          <a:lstStyle/>
          <a:p>
            <a:r>
              <a:rPr lang="th-TH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ความรู้ทั่วไปเกี่ยวกับการมีงานทำ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486275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ผลสำรวจสภาวะการมีงานทำงานของประชากร</a:t>
            </a:r>
          </a:p>
          <a:p>
            <a:pPr marL="1254125" indent="-538163">
              <a:spcBef>
                <a:spcPct val="0"/>
              </a:spcBef>
              <a:buNone/>
            </a:pP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2"/>
              </a:rPr>
              <a:t>https://www.nso.go.th/nsoweb/nso/survey_detail/9u</a:t>
            </a: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1254125" indent="-12541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1254125" indent="-12541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3651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36" y="365125"/>
            <a:ext cx="11563546" cy="1325563"/>
          </a:xfrm>
        </p:spPr>
        <p:txBody>
          <a:bodyPr>
            <a:noAutofit/>
          </a:bodyPr>
          <a:lstStyle/>
          <a:p>
            <a:r>
              <a:rPr lang="th-TH" sz="48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วัตถุประสงค์ของงานชีวอนามัยและความปลอดภัยในที่ทำงาน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486275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เพื่อให้พนักงานทุกคน ในทุกสาขาอาชีพ มีสุขภาพร่างกายและจิตใจที่ดีในการทำงาน</a:t>
            </a:r>
          </a:p>
          <a:p>
            <a:pPr>
              <a:spcBef>
                <a:spcPct val="0"/>
              </a:spcBef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เพื่อก่อให้เกิดการจัดสภาพแวดล้อมที่ดีและปลอดภัยแก่พนักงาน</a:t>
            </a:r>
          </a:p>
          <a:p>
            <a:pPr>
              <a:spcBef>
                <a:spcPct val="0"/>
              </a:spcBef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เพื่อป้องกันและลดอุบัติเหตุที่เกิดจากการทำงาน</a:t>
            </a:r>
          </a:p>
          <a:p>
            <a:pPr>
              <a:spcBef>
                <a:spcPct val="0"/>
              </a:spcBef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เพื่อสร้างการมีส่วนร่วมและกระตุ้นให้เกิดวัฒนธรรมความปลอดภัย </a:t>
            </a:r>
          </a:p>
          <a:p>
            <a:pPr marL="1254125" indent="-12541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86581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36" y="365125"/>
            <a:ext cx="11563546" cy="1325563"/>
          </a:xfrm>
        </p:spPr>
        <p:txBody>
          <a:bodyPr>
            <a:noAutofit/>
          </a:bodyPr>
          <a:lstStyle/>
          <a:p>
            <a:r>
              <a:rPr lang="th-TH" sz="60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คำศัพท์สำคัญที่ควรทราบ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802187"/>
          </a:xfrm>
        </p:spPr>
        <p:txBody>
          <a:bodyPr>
            <a:noAutofit/>
          </a:bodyPr>
          <a:lstStyle/>
          <a:p>
            <a:pPr marL="1254125" indent="-1254125">
              <a:spcBef>
                <a:spcPct val="0"/>
              </a:spcBef>
              <a:buNone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ภัย 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(Hazard)</a:t>
            </a:r>
            <a:endParaRPr lang="th-TH" sz="48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</a:t>
            </a:r>
            <a:r>
              <a:rPr lang="th-TH" sz="4000" b="1" dirty="0">
                <a:solidFill>
                  <a:schemeClr val="accent2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สภาพการณ์ ที่อาจก่อให้เกิดการบาดเจ็บของบุคคล การเสียหายของทรัพย์สิน หรือส่งผลต่อขีดความสามารถในการปฏิบัติงานของบุคคล</a:t>
            </a:r>
          </a:p>
          <a:p>
            <a:pPr marL="1254125" indent="-1254125">
              <a:spcBef>
                <a:spcPct val="0"/>
              </a:spcBef>
              <a:buNone/>
            </a:pPr>
            <a:endParaRPr lang="th-TH" sz="48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1254125" indent="-1254125">
              <a:spcBef>
                <a:spcPct val="0"/>
              </a:spcBef>
              <a:buNone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อันตราย 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(Danger)</a:t>
            </a:r>
            <a:endParaRPr lang="th-TH" sz="48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</a:t>
            </a:r>
            <a:r>
              <a:rPr lang="th-TH" sz="4000" b="1" dirty="0">
                <a:solidFill>
                  <a:schemeClr val="accent2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สภาวการณ์ที่อันตรายซึ่งเกิดจากภัยอันตราย สามารถป้องกันหรือหลีกเลี่ยงได้ ในบางกรณี ถึงแม้จะมีภัยเกิดขึ้นก็อาจจะทำให้ปราศจากอันตรายได้</a:t>
            </a:r>
          </a:p>
          <a:p>
            <a:pPr marL="631825" indent="-631825">
              <a:spcBef>
                <a:spcPct val="0"/>
              </a:spcBef>
              <a:buNone/>
            </a:pPr>
            <a:r>
              <a:rPr lang="th-TH" sz="4000" b="1" dirty="0">
                <a:solidFill>
                  <a:schemeClr val="accent2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</a:t>
            </a: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611351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36" y="365125"/>
            <a:ext cx="11563546" cy="1325563"/>
          </a:xfrm>
        </p:spPr>
        <p:txBody>
          <a:bodyPr>
            <a:noAutofit/>
          </a:bodyPr>
          <a:lstStyle/>
          <a:p>
            <a:r>
              <a:rPr lang="th-TH" sz="60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คำศัพท์สำคัญที่ควรทราบ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802187"/>
          </a:xfrm>
        </p:spPr>
        <p:txBody>
          <a:bodyPr>
            <a:noAutofit/>
          </a:bodyPr>
          <a:lstStyle/>
          <a:p>
            <a:pPr marL="1254125" indent="-1254125">
              <a:spcBef>
                <a:spcPct val="0"/>
              </a:spcBef>
              <a:buNone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ความเสียหาย 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(Damage)</a:t>
            </a:r>
            <a:endParaRPr lang="th-TH" sz="48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</a:t>
            </a:r>
            <a:r>
              <a:rPr lang="th-TH" sz="4000" b="1" dirty="0">
                <a:solidFill>
                  <a:schemeClr val="accent2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ความรุนแรงที่เกิดจากการบาดเจ็บของบุคคล หรือการเสียหายของทรัพย์สิน อันเนื่องมาจากไม่มีมาตรการในการป้องกันภัย</a:t>
            </a:r>
          </a:p>
          <a:p>
            <a:pPr marL="1254125" indent="-1254125">
              <a:spcBef>
                <a:spcPct val="0"/>
              </a:spcBef>
              <a:buNone/>
            </a:pPr>
            <a:endParaRPr lang="th-TH" sz="48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1254125" indent="-1254125">
              <a:spcBef>
                <a:spcPct val="0"/>
              </a:spcBef>
              <a:buNone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อุบัติเหตุ 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(Accident)</a:t>
            </a:r>
            <a:endParaRPr lang="th-TH" sz="48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</a:t>
            </a:r>
            <a:r>
              <a:rPr lang="th-TH" sz="4000" b="1" dirty="0">
                <a:solidFill>
                  <a:schemeClr val="accent2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เหตุการณ์ที่เกิดขึ้นโดยไม่อยู่ในแผนที่วางไว้ ไม่มีใครต้องการให้เกิดขึ้น ไม่สามารถหลีกเลี่ยงหรือควบคุมได้ ส่งผลเสียหายต่อร่างกายและทรัพย์สิน มักก่อให้เกิดผลเสียตามมาเป็นลูกโซ่ เช่นการหยุดการผลิต</a:t>
            </a: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16409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36" y="365125"/>
            <a:ext cx="11563546" cy="1325563"/>
          </a:xfrm>
        </p:spPr>
        <p:txBody>
          <a:bodyPr>
            <a:noAutofit/>
          </a:bodyPr>
          <a:lstStyle/>
          <a:p>
            <a:r>
              <a:rPr lang="th-TH" sz="60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คำศัพท์สำคัญที่ควรทราบ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486275"/>
          </a:xfrm>
        </p:spPr>
        <p:txBody>
          <a:bodyPr>
            <a:noAutofit/>
          </a:bodyPr>
          <a:lstStyle/>
          <a:p>
            <a:pPr marL="1254125" indent="-1254125">
              <a:spcBef>
                <a:spcPct val="0"/>
              </a:spcBef>
              <a:buNone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ความปลอดภัย 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(Safety)</a:t>
            </a:r>
            <a:endParaRPr lang="th-TH" sz="48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</a:t>
            </a:r>
            <a:r>
              <a:rPr lang="th-TH" sz="4000" b="1" dirty="0">
                <a:solidFill>
                  <a:schemeClr val="accent2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การปราศจากภัย หรือ พ้นภัยจากอันตราย</a:t>
            </a: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</a:t>
            </a:r>
            <a:r>
              <a:rPr lang="th-TH" sz="4000" b="1" dirty="0">
                <a:solidFill>
                  <a:schemeClr val="accent2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ทั้งที่เกิดขึ้นแล้วหรือมีโอกาสจะเกิดขึ้น </a:t>
            </a:r>
          </a:p>
          <a:p>
            <a:pPr marL="631825" indent="-631825">
              <a:spcBef>
                <a:spcPct val="0"/>
              </a:spcBef>
              <a:buNone/>
            </a:pPr>
            <a:r>
              <a:rPr lang="th-TH" sz="4000" b="1" dirty="0">
                <a:solidFill>
                  <a:schemeClr val="accent2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โดย ภัย หรือ ภัยจากอันตราย นั้นนำมาซึ่งการสูญเสียแก่ร่างกายหรือทรัพย์สิน </a:t>
            </a: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33470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36" y="365125"/>
            <a:ext cx="11563546" cy="1325563"/>
          </a:xfrm>
        </p:spPr>
        <p:txBody>
          <a:bodyPr>
            <a:noAutofit/>
          </a:bodyPr>
          <a:lstStyle/>
          <a:p>
            <a:r>
              <a:rPr lang="th-TH" sz="60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คำศัพท์สำคัญที่ควรทราบ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486275"/>
          </a:xfrm>
        </p:spPr>
        <p:txBody>
          <a:bodyPr>
            <a:noAutofit/>
          </a:bodyPr>
          <a:lstStyle/>
          <a:p>
            <a:pPr marL="1254125" indent="-1254125">
              <a:spcBef>
                <a:spcPct val="0"/>
              </a:spcBef>
              <a:buNone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ชีวอนามัย 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(Occupational Health)</a:t>
            </a:r>
            <a:endParaRPr lang="th-TH" sz="48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</a:t>
            </a:r>
            <a:r>
              <a:rPr lang="th-TH" sz="4000" b="1" dirty="0">
                <a:solidFill>
                  <a:schemeClr val="accent2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กิจกรรมที่เกี่ยวกับการป้องกัน การส่งเสริมสุขภาพอนามัย การดูแลรักษา เพื่อให้ผู้ประกอบอาชีพการงานทั้งหลาย มีสภาวะร่างกายและจิตใจที่แข็งแรง สมบูรณ์ มีความเป็นอยู่ที่ดีในสถานประกอบการรวมทั้งในสังคม	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</a:t>
            </a:r>
          </a:p>
          <a:p>
            <a:pPr marL="1254125" indent="-12541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22367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36" y="365125"/>
            <a:ext cx="11563546" cy="1325563"/>
          </a:xfrm>
        </p:spPr>
        <p:txBody>
          <a:bodyPr>
            <a:noAutofit/>
          </a:bodyPr>
          <a:lstStyle/>
          <a:p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องค์กรระดับโลกที่ดูแลงานชีวอนามัยและความปลอดภัย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802187"/>
          </a:xfrm>
        </p:spPr>
        <p:txBody>
          <a:bodyPr>
            <a:noAutofit/>
          </a:bodyPr>
          <a:lstStyle/>
          <a:p>
            <a:pPr marL="1254125" indent="-1254125">
              <a:spcBef>
                <a:spcPct val="0"/>
              </a:spcBef>
              <a:buNone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1. องค์การอนานัยโลก</a:t>
            </a:r>
          </a:p>
          <a:p>
            <a:pPr marL="631825" indent="-631825">
              <a:spcBef>
                <a:spcPct val="0"/>
              </a:spcBef>
              <a:buNone/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</a:t>
            </a: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World Health Organization </a:t>
            </a:r>
            <a:r>
              <a:rPr lang="th-TH" sz="4000" b="1" dirty="0">
                <a:solidFill>
                  <a:schemeClr val="accent2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หรือ </a:t>
            </a: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WHO</a:t>
            </a:r>
            <a:endParaRPr lang="th-TH" sz="4000" b="1" dirty="0">
              <a:solidFill>
                <a:schemeClr val="accent2">
                  <a:lumMod val="50000"/>
                </a:schemeClr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Web site: 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https://www.who.int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</a:t>
            </a:r>
          </a:p>
          <a:p>
            <a:pPr marL="1254125" indent="-1254125">
              <a:spcBef>
                <a:spcPct val="0"/>
              </a:spcBef>
              <a:buNone/>
            </a:pPr>
            <a:endParaRPr lang="en-US" sz="48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1254125" indent="-1254125">
              <a:spcBef>
                <a:spcPct val="0"/>
              </a:spcBef>
              <a:buNone/>
            </a:pP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2. </a:t>
            </a: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องค์การแรงงานระหว่างประเทศ</a:t>
            </a:r>
          </a:p>
          <a:p>
            <a:pPr marL="631825" indent="-631825">
              <a:spcBef>
                <a:spcPct val="0"/>
              </a:spcBef>
              <a:buNone/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</a:t>
            </a: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International </a:t>
            </a:r>
            <a:r>
              <a:rPr lang="en-US" sz="4000" b="1" dirty="0" err="1">
                <a:solidFill>
                  <a:schemeClr val="accent2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Labour</a:t>
            </a: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Organization </a:t>
            </a:r>
            <a:r>
              <a:rPr lang="th-TH" sz="4000" b="1" dirty="0">
                <a:solidFill>
                  <a:schemeClr val="accent2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หรือ </a:t>
            </a: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ILO</a:t>
            </a:r>
          </a:p>
          <a:p>
            <a:pPr marL="631825" indent="-631825">
              <a:spcBef>
                <a:spcPct val="0"/>
              </a:spcBef>
              <a:buNone/>
            </a:pP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Web site: 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3"/>
              </a:rPr>
              <a:t>https://www.ilo.org/</a:t>
            </a: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51882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1" y="365125"/>
            <a:ext cx="11736371" cy="1325563"/>
          </a:xfrm>
        </p:spPr>
        <p:txBody>
          <a:bodyPr>
            <a:normAutofit fontScale="90000"/>
          </a:bodyPr>
          <a:lstStyle/>
          <a:p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กิจกรรมงานชีวอนามัยและความปลอดภัยของ </a:t>
            </a:r>
            <a:r>
              <a:rPr lang="en-US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WHO </a:t>
            </a:r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และ </a:t>
            </a:r>
            <a:r>
              <a:rPr lang="en-US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ILO</a:t>
            </a:r>
            <a:endParaRPr lang="th-TH" sz="5400" b="1" dirty="0">
              <a:solidFill>
                <a:srgbClr val="00B0F0"/>
              </a:solidFill>
              <a:latin typeface="TH Baijam" panose="02000506000000020004" pitchFamily="2" charset="-34"/>
              <a:cs typeface="TH Baijam" panose="02000506000000020004" pitchFamily="2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802187"/>
          </a:xfrm>
        </p:spPr>
        <p:txBody>
          <a:bodyPr>
            <a:noAutofit/>
          </a:bodyPr>
          <a:lstStyle/>
          <a:p>
            <a:pPr marL="631825" indent="-631825">
              <a:spcBef>
                <a:spcPct val="0"/>
              </a:spcBef>
              <a:buNone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1. 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</a:t>
            </a: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การส่งเสริม (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Promotion</a:t>
            </a: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)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</a:t>
            </a: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และธรรมรงรักษาไว้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(Maintenance) </a:t>
            </a: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ซึ่งสุขภาพร่างกาย (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Physical</a:t>
            </a: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)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</a:t>
            </a: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และจิตใจ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(Mental)</a:t>
            </a: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ที่สมบูรณ์ที่สุด ของผู้ปฏิบัติงาน </a:t>
            </a: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16601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1" y="365125"/>
            <a:ext cx="11736371" cy="1325563"/>
          </a:xfrm>
        </p:spPr>
        <p:txBody>
          <a:bodyPr>
            <a:normAutofit fontScale="90000"/>
          </a:bodyPr>
          <a:lstStyle/>
          <a:p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กิจกรรมงานชีวอนามัยและความปลอดภัยของ </a:t>
            </a:r>
            <a:r>
              <a:rPr lang="en-US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WHO </a:t>
            </a:r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และ </a:t>
            </a:r>
            <a:r>
              <a:rPr lang="en-US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ILO</a:t>
            </a:r>
            <a:endParaRPr lang="th-TH" sz="5400" b="1" dirty="0">
              <a:solidFill>
                <a:srgbClr val="00B0F0"/>
              </a:solidFill>
              <a:latin typeface="TH Baijam" panose="02000506000000020004" pitchFamily="2" charset="-34"/>
              <a:cs typeface="TH Baijam" panose="02000506000000020004" pitchFamily="2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802187"/>
          </a:xfrm>
        </p:spPr>
        <p:txBody>
          <a:bodyPr>
            <a:noAutofit/>
          </a:bodyPr>
          <a:lstStyle/>
          <a:p>
            <a:pPr marL="631825" indent="-631825">
              <a:spcBef>
                <a:spcPct val="0"/>
              </a:spcBef>
              <a:buNone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2. 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</a:t>
            </a: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การป้องกัน (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Prevention</a:t>
            </a: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)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</a:t>
            </a: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ไม่ให้ผู้ปฏิบัติงานมีร่างกายและจิตใจเสื่อมโทรม หรือผิดปกติ อันมีสาเหตุมาจากสภาพการทำงาน </a:t>
            </a: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1535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1" y="365125"/>
            <a:ext cx="11736371" cy="1325563"/>
          </a:xfrm>
        </p:spPr>
        <p:txBody>
          <a:bodyPr>
            <a:normAutofit fontScale="90000"/>
          </a:bodyPr>
          <a:lstStyle/>
          <a:p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กิจกรรมงานชีวอนามัยและความปลอดภัยของ </a:t>
            </a:r>
            <a:r>
              <a:rPr lang="en-US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WHO </a:t>
            </a:r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และ </a:t>
            </a:r>
            <a:r>
              <a:rPr lang="en-US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ILO</a:t>
            </a:r>
            <a:endParaRPr lang="th-TH" sz="5400" b="1" dirty="0">
              <a:solidFill>
                <a:srgbClr val="00B0F0"/>
              </a:solidFill>
              <a:latin typeface="TH Baijam" panose="02000506000000020004" pitchFamily="2" charset="-34"/>
              <a:cs typeface="TH Baijam" panose="02000506000000020004" pitchFamily="2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802187"/>
          </a:xfrm>
        </p:spPr>
        <p:txBody>
          <a:bodyPr>
            <a:noAutofit/>
          </a:bodyPr>
          <a:lstStyle/>
          <a:p>
            <a:pPr marL="631825" indent="-631825">
              <a:spcBef>
                <a:spcPct val="0"/>
              </a:spcBef>
              <a:buNone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3. การปกป้องคุ้มครอง (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Protection</a:t>
            </a: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)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</a:t>
            </a: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ไม่ให้ผู้ปฏิบัติงานทำงานที่เสี่ยงต่ออันตราย</a:t>
            </a: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26706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1" y="365125"/>
            <a:ext cx="11736371" cy="1325563"/>
          </a:xfrm>
        </p:spPr>
        <p:txBody>
          <a:bodyPr>
            <a:normAutofit fontScale="90000"/>
          </a:bodyPr>
          <a:lstStyle/>
          <a:p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กิจกรรมงานชีวอนามัยและความปลอดภัยของ </a:t>
            </a:r>
            <a:r>
              <a:rPr lang="en-US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WHO </a:t>
            </a:r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และ </a:t>
            </a:r>
            <a:r>
              <a:rPr lang="en-US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ILO</a:t>
            </a:r>
            <a:endParaRPr lang="th-TH" sz="5400" b="1" dirty="0">
              <a:solidFill>
                <a:srgbClr val="00B0F0"/>
              </a:solidFill>
              <a:latin typeface="TH Baijam" panose="02000506000000020004" pitchFamily="2" charset="-34"/>
              <a:cs typeface="TH Baijam" panose="02000506000000020004" pitchFamily="2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802187"/>
          </a:xfrm>
        </p:spPr>
        <p:txBody>
          <a:bodyPr>
            <a:noAutofit/>
          </a:bodyPr>
          <a:lstStyle/>
          <a:p>
            <a:pPr marL="631825" indent="-631825">
              <a:spcBef>
                <a:spcPct val="0"/>
              </a:spcBef>
              <a:buNone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4. การจัดให้ผู้ปฏิบัติงาน ได้ทำงานในสภาวะแวดล้อมที่เหมาะกับสภาพร่างกายและจิตใจ (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Physiological and psychological ability</a:t>
            </a: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0094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1" y="365125"/>
            <a:ext cx="11736371" cy="1325563"/>
          </a:xfrm>
        </p:spPr>
        <p:txBody>
          <a:bodyPr>
            <a:normAutofit fontScale="90000"/>
          </a:bodyPr>
          <a:lstStyle/>
          <a:p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กิจกรรมงานชีวอนามัยและความปลอดภัยของ </a:t>
            </a:r>
            <a:r>
              <a:rPr lang="en-US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WHO </a:t>
            </a:r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และ </a:t>
            </a:r>
            <a:r>
              <a:rPr lang="en-US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ILO</a:t>
            </a:r>
            <a:endParaRPr lang="th-TH" sz="5400" b="1" dirty="0">
              <a:solidFill>
                <a:srgbClr val="00B0F0"/>
              </a:solidFill>
              <a:latin typeface="TH Baijam" panose="02000506000000020004" pitchFamily="2" charset="-34"/>
              <a:cs typeface="TH Baijam" panose="02000506000000020004" pitchFamily="2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802187"/>
          </a:xfrm>
        </p:spPr>
        <p:txBody>
          <a:bodyPr>
            <a:noAutofit/>
          </a:bodyPr>
          <a:lstStyle/>
          <a:p>
            <a:pPr marL="631825" indent="-631825">
              <a:spcBef>
                <a:spcPct val="0"/>
              </a:spcBef>
              <a:buNone/>
            </a:pP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5</a:t>
            </a: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. การปรับคนให้เข้ากับงาน และ ปรับงานให้เข้ากับคน (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Adaptation of man vs job</a:t>
            </a: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27154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1" y="365125"/>
            <a:ext cx="11736371" cy="1325563"/>
          </a:xfrm>
        </p:spPr>
        <p:txBody>
          <a:bodyPr>
            <a:normAutofit/>
          </a:bodyPr>
          <a:lstStyle/>
          <a:p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หน่วยงานที่เกี่ยวข้องกับมาตรฐานความปลอดภัย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802187"/>
          </a:xfrm>
        </p:spPr>
        <p:txBody>
          <a:bodyPr>
            <a:noAutofit/>
          </a:bodyPr>
          <a:lstStyle/>
          <a:p>
            <a:pPr marL="914400" indent="-914400">
              <a:spcBef>
                <a:spcPct val="0"/>
              </a:spcBef>
              <a:buAutoNum type="arabicPeriod"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กระทรวงอุตสาหกรรม 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(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2"/>
              </a:rPr>
              <a:t>https://www.industry.go.th/th/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)</a:t>
            </a:r>
          </a:p>
          <a:p>
            <a:pPr lvl="1">
              <a:spcBef>
                <a:spcPct val="0"/>
              </a:spcBef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พระราชบัญญัติโรงงาน (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3"/>
              </a:rPr>
              <a:t>http://law.industry.go.th/laws/detail/32669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)</a:t>
            </a:r>
          </a:p>
          <a:p>
            <a:pPr lvl="1">
              <a:spcBef>
                <a:spcPct val="0"/>
              </a:spcBef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พระราชบัญญัติวัตถุอันตราย (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4"/>
              </a:rPr>
              <a:t>https://www.diw.go.th/webdiw/law-haz/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)</a:t>
            </a:r>
          </a:p>
          <a:p>
            <a:pPr lvl="1">
              <a:spcBef>
                <a:spcPct val="0"/>
              </a:spcBef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พระราชบัญญัติแร่ (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5"/>
              </a:rPr>
              <a:t>http://law.industry.go.th/laws/detail/32667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)</a:t>
            </a:r>
          </a:p>
          <a:p>
            <a:pPr marL="1200150" lvl="1" indent="-742950">
              <a:spcBef>
                <a:spcPct val="0"/>
              </a:spcBef>
              <a:buAutoNum type="arabicPeriod"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1200150" lvl="1" indent="-742950">
              <a:spcBef>
                <a:spcPct val="0"/>
              </a:spcBef>
              <a:buAutoNum type="arabicPeriod"/>
            </a:pP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93409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1" y="365125"/>
            <a:ext cx="11736371" cy="1325563"/>
          </a:xfrm>
        </p:spPr>
        <p:txBody>
          <a:bodyPr>
            <a:normAutofit/>
          </a:bodyPr>
          <a:lstStyle/>
          <a:p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หน่วยงานที่เกี่ยวข้องกับมาตรฐานความปลอดภัย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802187"/>
          </a:xfr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2. กระทรวงสาธารณสุข 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(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2"/>
              </a:rPr>
              <a:t>https://www.moph.go.th/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)</a:t>
            </a:r>
          </a:p>
          <a:p>
            <a:pPr lvl="1">
              <a:spcBef>
                <a:spcPct val="0"/>
              </a:spcBef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3"/>
              </a:rPr>
              <a:t>พระราชบัญญัติการสาธารณสุข พ.ศ. 2535</a:t>
            </a: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lvl="1">
              <a:spcBef>
                <a:spcPct val="0"/>
              </a:spcBef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กรมอนามัย (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4"/>
              </a:rPr>
              <a:t>https://anamai.moph.go.th/th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)</a:t>
            </a:r>
          </a:p>
          <a:p>
            <a:pPr marL="457200" lvl="1" indent="0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1200150" lvl="1" indent="-742950">
              <a:spcBef>
                <a:spcPct val="0"/>
              </a:spcBef>
              <a:buAutoNum type="arabicPeriod"/>
            </a:pP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48051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1" y="365125"/>
            <a:ext cx="11736371" cy="1325563"/>
          </a:xfrm>
        </p:spPr>
        <p:txBody>
          <a:bodyPr>
            <a:normAutofit/>
          </a:bodyPr>
          <a:lstStyle/>
          <a:p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หน่วยงานที่เกี่ยวข้องกับมาตรฐานความปลอดภัย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802187"/>
          </a:xfr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3. กระทรวงแรงงาน 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(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2"/>
              </a:rPr>
              <a:t>https://www.mol.go.th/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)</a:t>
            </a:r>
          </a:p>
          <a:p>
            <a:pPr lvl="1">
              <a:spcBef>
                <a:spcPct val="0"/>
              </a:spcBef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กรมสวัสดิการและคุ้มครองแรงงาน  (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3"/>
              </a:rPr>
              <a:t>https://www.labour.go.th/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)</a:t>
            </a:r>
          </a:p>
          <a:p>
            <a:pPr lvl="2">
              <a:spcBef>
                <a:spcPct val="0"/>
              </a:spcBef>
            </a:pPr>
            <a:r>
              <a:rPr lang="th-TH" sz="36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4"/>
              </a:rPr>
              <a:t>กฎหมายคุ้มครองแรงงาน</a:t>
            </a:r>
            <a:endParaRPr lang="th-TH" sz="36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lvl="1">
              <a:spcBef>
                <a:spcPct val="0"/>
              </a:spcBef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สำนักงานประกันสังคม (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5"/>
              </a:rPr>
              <a:t>https://www.sso.go.th/wpr/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)</a:t>
            </a:r>
          </a:p>
          <a:p>
            <a:pPr lvl="1">
              <a:spcBef>
                <a:spcPct val="0"/>
              </a:spcBef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กรมพัฒนาฝีมือแรงงาน (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6"/>
              </a:rPr>
              <a:t>https://www.dsd.go.th/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)</a:t>
            </a:r>
          </a:p>
          <a:p>
            <a:pPr marL="1200150" lvl="1" indent="-742950">
              <a:spcBef>
                <a:spcPct val="0"/>
              </a:spcBef>
              <a:buAutoNum type="arabicPeriod"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1200150" lvl="1" indent="-742950">
              <a:spcBef>
                <a:spcPct val="0"/>
              </a:spcBef>
              <a:buAutoNum type="arabicPeriod"/>
            </a:pP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34280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1" y="365125"/>
            <a:ext cx="11736371" cy="1325563"/>
          </a:xfrm>
        </p:spPr>
        <p:txBody>
          <a:bodyPr>
            <a:normAutofit/>
          </a:bodyPr>
          <a:lstStyle/>
          <a:p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หน่วยงานที่เกี่ยวข้องกับมาตรฐานความปลอดภัย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802187"/>
          </a:xfr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4. กระทรวงเกษตรและสหกรณ์  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(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2"/>
              </a:rPr>
              <a:t>https://www.moac.go.th/site-home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)</a:t>
            </a:r>
          </a:p>
          <a:p>
            <a:pPr lvl="1">
              <a:spcBef>
                <a:spcPct val="0"/>
              </a:spcBef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กรมวิชาการเกษตร (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3"/>
              </a:rPr>
              <a:t>https://www.doa.go.th/nitikan/?page_id=1694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)</a:t>
            </a:r>
          </a:p>
          <a:p>
            <a:pPr marL="1200150" lvl="1" indent="-742950">
              <a:spcBef>
                <a:spcPct val="0"/>
              </a:spcBef>
              <a:buAutoNum type="arabicPeriod"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457200" lvl="1" indent="0">
              <a:spcBef>
                <a:spcPct val="0"/>
              </a:spcBef>
              <a:buNone/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ตัวอย่างการระเบิดของวัตถุอันตราย</a:t>
            </a:r>
          </a:p>
          <a:p>
            <a:pPr marL="457200" lvl="1" indent="0">
              <a:spcBef>
                <a:spcPct val="0"/>
              </a:spcBef>
              <a:buNone/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</a:t>
            </a:r>
            <a:r>
              <a:rPr lang="en-US" sz="36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4"/>
              </a:rPr>
              <a:t>https://www.youtube.com/watch?v=MzICsGxegL0</a:t>
            </a:r>
            <a:endParaRPr lang="th-TH" sz="3600" b="1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457200" lvl="1" indent="0">
              <a:spcBef>
                <a:spcPct val="0"/>
              </a:spcBef>
              <a:buNone/>
            </a:pPr>
            <a:endParaRPr lang="en-US" sz="36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79252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1" y="365125"/>
            <a:ext cx="11736371" cy="1325563"/>
          </a:xfrm>
        </p:spPr>
        <p:txBody>
          <a:bodyPr>
            <a:normAutofit/>
          </a:bodyPr>
          <a:lstStyle/>
          <a:p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หน่วยงานที่เกี่ยวข้องกับมาตรฐานความปลอดภัย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802187"/>
          </a:xfr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5. กระทรวงกลาโหม 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(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2"/>
              </a:rPr>
              <a:t>https://www.mod.go.th/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)</a:t>
            </a:r>
          </a:p>
          <a:p>
            <a:pPr lvl="1">
              <a:spcBef>
                <a:spcPct val="0"/>
              </a:spcBef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กรมการอุตสาหกรรมทหาร</a:t>
            </a:r>
          </a:p>
          <a:p>
            <a:pPr lvl="2">
              <a:spcBef>
                <a:spcPct val="0"/>
              </a:spcBef>
            </a:pPr>
            <a:r>
              <a:rPr lang="th-TH" sz="36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4"/>
              </a:rPr>
              <a:t>พระราชบัญญัติควบคุมยุทธภัณฑ์</a:t>
            </a:r>
            <a:endParaRPr lang="th-TH" sz="36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1200150" lvl="1" indent="-742950">
              <a:spcBef>
                <a:spcPct val="0"/>
              </a:spcBef>
              <a:buAutoNum type="arabicPeriod"/>
            </a:pP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34436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1" y="365125"/>
            <a:ext cx="11736371" cy="1325563"/>
          </a:xfrm>
        </p:spPr>
        <p:txBody>
          <a:bodyPr>
            <a:normAutofit/>
          </a:bodyPr>
          <a:lstStyle/>
          <a:p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หน่วยงานที่เกี่ยวข้องกับมาตรฐานความปลอดภัย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802187"/>
          </a:xfr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6. กระทรวงทรัพยากรธรรมชาติและสิ่งแวดล้อม  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(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2"/>
              </a:rPr>
              <a:t>https://www.mnre.go.th/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)</a:t>
            </a:r>
          </a:p>
          <a:p>
            <a:pPr lvl="1">
              <a:spcBef>
                <a:spcPct val="0"/>
              </a:spcBef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3"/>
              </a:rPr>
              <a:t>พระราชบัญญัติส่งเสริมและรักษาคุณภาพสิ่งแวดล้อมแห่งชาติ</a:t>
            </a: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1200150" lvl="1" indent="-742950">
              <a:spcBef>
                <a:spcPct val="0"/>
              </a:spcBef>
              <a:buAutoNum type="arabicPeriod"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1200150" lvl="1" indent="-742950">
              <a:spcBef>
                <a:spcPct val="0"/>
              </a:spcBef>
              <a:buAutoNum type="arabicPeriod"/>
            </a:pP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82027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1" y="365125"/>
            <a:ext cx="11736371" cy="1325563"/>
          </a:xfrm>
        </p:spPr>
        <p:txBody>
          <a:bodyPr>
            <a:normAutofit/>
          </a:bodyPr>
          <a:lstStyle/>
          <a:p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หน่วยงานที่เกี่ยวข้องกับมาตรฐานความปลอดภัย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802187"/>
          </a:xfr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หน่วยงานอื่น ๆ และสถาบันทางการศึกษา</a:t>
            </a:r>
          </a:p>
          <a:p>
            <a:pPr marL="0" indent="0">
              <a:spcBef>
                <a:spcPct val="0"/>
              </a:spcBef>
              <a:buNone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** ค้นคว้าเพิ่มเติม</a:t>
            </a:r>
          </a:p>
          <a:p>
            <a:pPr marL="0" indent="0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1200150" lvl="1" indent="-742950">
              <a:spcBef>
                <a:spcPct val="0"/>
              </a:spcBef>
              <a:buAutoNum type="arabicPeriod"/>
            </a:pP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97995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1" y="365125"/>
            <a:ext cx="11736371" cy="1325563"/>
          </a:xfrm>
        </p:spPr>
        <p:txBody>
          <a:bodyPr>
            <a:normAutofit/>
          </a:bodyPr>
          <a:lstStyle/>
          <a:p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สถานการณ์ปัจจุบันเกี่ยวกับสุขภาพแรงงาน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802187"/>
          </a:xfr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ที่มา</a:t>
            </a:r>
            <a:r>
              <a:rPr lang="en-US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: </a:t>
            </a:r>
            <a:r>
              <a:rPr lang="th-TH" sz="4800" b="1" dirty="0" err="1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สํานักงาน</a:t>
            </a: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กองทุนเงินทดแทน </a:t>
            </a:r>
            <a:r>
              <a:rPr lang="th-TH" sz="4800" b="1" dirty="0" err="1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สํานักงา</a:t>
            </a: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นประกันสังคม กระทรวงแรงงาน</a:t>
            </a:r>
          </a:p>
          <a:p>
            <a:pPr marL="0" indent="0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1200150" lvl="1" indent="-742950">
              <a:spcBef>
                <a:spcPct val="0"/>
              </a:spcBef>
              <a:buAutoNum type="arabicPeriod"/>
            </a:pP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th-TH" sz="48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สถานการณ์การประสบอันตรายหรือเจ็บป่วย เนื่องจากการทำงาน</a:t>
            </a:r>
            <a:endParaRPr lang="th-TH" sz="48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69101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1" y="365125"/>
            <a:ext cx="11736371" cy="1325563"/>
          </a:xfrm>
        </p:spPr>
        <p:txBody>
          <a:bodyPr>
            <a:normAutofit/>
          </a:bodyPr>
          <a:lstStyle/>
          <a:p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ประโยชน์ที่ได้รับจากการทำงานอย่างปลอดภัย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802187"/>
          </a:xfrm>
        </p:spPr>
        <p:txBody>
          <a:bodyPr>
            <a:noAutofit/>
          </a:bodyPr>
          <a:lstStyle/>
          <a:p>
            <a:pPr marL="631825" indent="-631825">
              <a:spcBef>
                <a:spcPct val="0"/>
              </a:spcBef>
              <a:buNone/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ประโยชน์ต่อสถานประกอบการณ์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th-TH" sz="36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ปริมาณผลผลิตเพิ่มขึ้น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th-TH" sz="36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ลดต้นทุนการผลิตต่อหน่วย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th-TH" sz="36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ได้รับการยอมรับจากลูกค้า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th-TH" sz="36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มีกำไรมากขึ้น</a:t>
            </a:r>
          </a:p>
        </p:txBody>
      </p:sp>
    </p:spTree>
    <p:extLst>
      <p:ext uri="{BB962C8B-B14F-4D97-AF65-F5344CB8AC3E}">
        <p14:creationId xmlns:p14="http://schemas.microsoft.com/office/powerpoint/2010/main" val="3369102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1" y="365125"/>
            <a:ext cx="11736371" cy="1325563"/>
          </a:xfrm>
        </p:spPr>
        <p:txBody>
          <a:bodyPr>
            <a:normAutofit/>
          </a:bodyPr>
          <a:lstStyle/>
          <a:p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ประโยชน์ที่ได้รับจากการทำงานอย่างปลอดภัย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802187"/>
          </a:xfrm>
        </p:spPr>
        <p:txBody>
          <a:bodyPr>
            <a:noAutofit/>
          </a:bodyPr>
          <a:lstStyle/>
          <a:p>
            <a:pPr marL="631825" indent="-631825">
              <a:spcBef>
                <a:spcPct val="0"/>
              </a:spcBef>
              <a:buNone/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ประโยชน์ต่อผู้ปฏิบัติงาน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th-TH" sz="36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มีขวัญกำลังใจ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th-TH" sz="36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ครอบครัวมีความสุข</a:t>
            </a:r>
          </a:p>
          <a:p>
            <a:pPr marL="631825" indent="-631825">
              <a:spcBef>
                <a:spcPct val="0"/>
              </a:spcBef>
              <a:buNone/>
            </a:pP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11868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1" y="365125"/>
            <a:ext cx="11736371" cy="1325563"/>
          </a:xfrm>
        </p:spPr>
        <p:txBody>
          <a:bodyPr>
            <a:normAutofit/>
          </a:bodyPr>
          <a:lstStyle/>
          <a:p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ประโยชน์ที่ได้รับจากการทำงานอย่างปลอดภัย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802187"/>
          </a:xfrm>
        </p:spPr>
        <p:txBody>
          <a:bodyPr>
            <a:noAutofit/>
          </a:bodyPr>
          <a:lstStyle/>
          <a:p>
            <a:pPr marL="631825" indent="-631825">
              <a:spcBef>
                <a:spcPct val="0"/>
              </a:spcBef>
              <a:buNone/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ประโยชน์ต่อประเทศชาติ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th-TH" sz="36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เศรษฐกิจและสังคมดีขึ้น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th-TH" sz="36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เพิ่มศักยภาพในการแข่งขันระดับภูมิภาคและระดับโลก</a:t>
            </a:r>
          </a:p>
          <a:p>
            <a:pPr marL="631825" indent="-631825">
              <a:spcBef>
                <a:spcPct val="0"/>
              </a:spcBef>
              <a:buNone/>
            </a:pP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512832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1" y="365125"/>
            <a:ext cx="11736371" cy="1325563"/>
          </a:xfrm>
        </p:spPr>
        <p:txBody>
          <a:bodyPr>
            <a:normAutofit/>
          </a:bodyPr>
          <a:lstStyle/>
          <a:p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คุณภาพชีวิตในการทำงาน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690688"/>
            <a:ext cx="11236751" cy="4802187"/>
          </a:xfrm>
        </p:spPr>
        <p:txBody>
          <a:bodyPr>
            <a:noAutofit/>
          </a:bodyPr>
          <a:lstStyle/>
          <a:p>
            <a:pPr marL="631825" indent="-631825">
              <a:spcBef>
                <a:spcPct val="0"/>
              </a:spcBef>
              <a:buNone/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ที่มา 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: </a:t>
            </a:r>
            <a:r>
              <a:rPr lang="th-TH" sz="2800" b="0" i="0" dirty="0">
                <a:solidFill>
                  <a:srgbClr val="57C1D5"/>
                </a:solidFill>
                <a:effectLst/>
                <a:highlight>
                  <a:srgbClr val="F5F5F5"/>
                </a:highlight>
                <a:latin typeface="Prompt" panose="00000500000000000000" pitchFamily="2" charset="-34"/>
                <a:cs typeface="Prompt" panose="00000500000000000000" pitchFamily="2" charset="-34"/>
                <a:hlinkClick r:id="rId2"/>
              </a:rPr>
              <a:t>คุณภาพชีวิตในการทำงาน (</a:t>
            </a:r>
            <a:r>
              <a:rPr lang="en-US" sz="2800" b="0" i="0" dirty="0">
                <a:solidFill>
                  <a:srgbClr val="57C1D5"/>
                </a:solidFill>
                <a:effectLst/>
                <a:highlight>
                  <a:srgbClr val="F5F5F5"/>
                </a:highlight>
                <a:latin typeface="Prompt" panose="00000500000000000000" pitchFamily="2" charset="-34"/>
                <a:cs typeface="Prompt" panose="00000500000000000000" pitchFamily="2" charset="-34"/>
                <a:hlinkClick r:id="rId2"/>
              </a:rPr>
              <a:t>Quality Of Working Life)</a:t>
            </a:r>
            <a:endParaRPr lang="en-US" sz="2800" b="0" i="0" dirty="0">
              <a:solidFill>
                <a:srgbClr val="57C1D5"/>
              </a:solidFill>
              <a:effectLst/>
              <a:highlight>
                <a:srgbClr val="F5F5F5"/>
              </a:highlight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631825" indent="-6318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  <p:pic>
        <p:nvPicPr>
          <p:cNvPr id="1026" name="Picture 2" descr="คุณภาพชีวิตในการทำงาน (Quality of Working life)">
            <a:extLst>
              <a:ext uri="{FF2B5EF4-FFF2-40B4-BE49-F238E27FC236}">
                <a16:creationId xmlns:a16="http://schemas.microsoft.com/office/drawing/2014/main" id="{9E5E28DD-B454-24C8-10D5-281F30F67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816" y="2415395"/>
            <a:ext cx="5062193" cy="3123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E7475FA8-3D04-0844-6BC7-76C7029DB2D9}"/>
              </a:ext>
            </a:extLst>
          </p:cNvPr>
          <p:cNvSpPr txBox="1"/>
          <p:nvPr/>
        </p:nvSpPr>
        <p:spPr>
          <a:xfrm>
            <a:off x="1121790" y="5626013"/>
            <a:ext cx="1003640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TH Baijam" panose="02000506000000020004" pitchFamily="2" charset="-34"/>
                <a:cs typeface="TH Baijam" panose="02000506000000020004" pitchFamily="2" charset="-34"/>
              </a:rPr>
              <a:t>ตามหลักการของ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TH Baijam" panose="02000506000000020004" pitchFamily="2" charset="-34"/>
                <a:cs typeface="TH Baijam" panose="02000506000000020004" pitchFamily="2" charset="-34"/>
              </a:rPr>
              <a:t>Richard E. Walton </a:t>
            </a:r>
            <a:r>
              <a:rPr lang="th-TH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TH Baijam" panose="02000506000000020004" pitchFamily="2" charset="-34"/>
                <a:cs typeface="TH Baijam" panose="02000506000000020004" pitchFamily="2" charset="-34"/>
              </a:rPr>
              <a:t>ซึ่งปรากฎในหนังสือ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TH Baijam" panose="02000506000000020004" pitchFamily="2" charset="-34"/>
                <a:cs typeface="TH Baijam" panose="02000506000000020004" pitchFamily="2" charset="-34"/>
              </a:rPr>
              <a:t>Criteria for Quality of Working life </a:t>
            </a:r>
            <a:r>
              <a:rPr lang="th-TH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TH Baijam" panose="02000506000000020004" pitchFamily="2" charset="-34"/>
                <a:cs typeface="TH Baijam" panose="02000506000000020004" pitchFamily="2" charset="-34"/>
              </a:rPr>
              <a:t>ได้แบ่งออกองค์ประกอบสำคัญเกี่ยวกับคุณภาพชีวิตไว้ 8 ประการ</a:t>
            </a:r>
            <a:endParaRPr lang="th-TH" dirty="0">
              <a:latin typeface="TH Baijam" panose="02000506000000020004" pitchFamily="2" charset="-34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641798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1" y="365125"/>
            <a:ext cx="11736371" cy="1325563"/>
          </a:xfrm>
        </p:spPr>
        <p:txBody>
          <a:bodyPr>
            <a:normAutofit/>
          </a:bodyPr>
          <a:lstStyle/>
          <a:p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คุณภาพชีวิตในการทำงาน</a:t>
            </a:r>
          </a:p>
        </p:txBody>
      </p:sp>
      <p:pic>
        <p:nvPicPr>
          <p:cNvPr id="2050" name="Picture 2" descr="Description missing for this image.">
            <a:extLst>
              <a:ext uri="{FF2B5EF4-FFF2-40B4-BE49-F238E27FC236}">
                <a16:creationId xmlns:a16="http://schemas.microsoft.com/office/drawing/2014/main" id="{F8BF8ACC-24F7-9828-C7C1-906138BE6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849" y="365125"/>
            <a:ext cx="6314151" cy="631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B76C2A38-B2CF-C412-6DA9-34A272138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40431" cy="4351338"/>
          </a:xfrm>
        </p:spPr>
        <p:txBody>
          <a:bodyPr/>
          <a:lstStyle/>
          <a:p>
            <a:pPr marL="0" indent="0">
              <a:buNone/>
            </a:pPr>
            <a:r>
              <a:rPr lang="th-TH" sz="3600" dirty="0">
                <a:latin typeface="TH Baijam" panose="02000506000000020004" pitchFamily="2" charset="-34"/>
                <a:cs typeface="TH Baijam" panose="02000506000000020004" pitchFamily="2" charset="-34"/>
              </a:rPr>
              <a:t>อ่านเพิ่มเติม</a:t>
            </a:r>
          </a:p>
          <a:p>
            <a:pPr marL="0" indent="0">
              <a:buNone/>
            </a:pPr>
            <a:r>
              <a:rPr lang="en-US" sz="2000" dirty="0">
                <a:hlinkClick r:id="rId3"/>
              </a:rPr>
              <a:t>https://www.tosh.or.th/index.php/blog/item/475-quality-of-working-life</a:t>
            </a:r>
            <a:endParaRPr lang="th-TH" sz="2000" dirty="0"/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274095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1" y="365125"/>
            <a:ext cx="11736371" cy="1325563"/>
          </a:xfrm>
        </p:spPr>
        <p:txBody>
          <a:bodyPr>
            <a:normAutofit/>
          </a:bodyPr>
          <a:lstStyle/>
          <a:p>
            <a:r>
              <a:rPr lang="th-TH" sz="54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เทคนิคและมาตรฐานที่เกี่ยวข้องกับความปลอดภัย</a:t>
            </a:r>
          </a:p>
        </p:txBody>
      </p:sp>
      <p:pic>
        <p:nvPicPr>
          <p:cNvPr id="3074" name="Picture 2" descr="มาตรฐานการประเมินความเสี่ยงด้านความปลอดภัย อาชีวอนามัย และสภาพแวดล้อมในการทำงาน (Occupational Safety and Health Risk Assessment Standard)">
            <a:extLst>
              <a:ext uri="{FF2B5EF4-FFF2-40B4-BE49-F238E27FC236}">
                <a16:creationId xmlns:a16="http://schemas.microsoft.com/office/drawing/2014/main" id="{1469B968-A278-F921-99CF-3BCB21FE3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11" y="1647170"/>
            <a:ext cx="2213210" cy="3129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มาตรฐานระบบการจัดการด้านความปลอดภัย อาชีวอนามัย และสภาพแวดล้อมในการทางาน (Occupational Safety and Health Management System Standard)">
            <a:extLst>
              <a:ext uri="{FF2B5EF4-FFF2-40B4-BE49-F238E27FC236}">
                <a16:creationId xmlns:a16="http://schemas.microsoft.com/office/drawing/2014/main" id="{7DED9633-2543-31F4-7E44-5A0811A43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721" y="1642924"/>
            <a:ext cx="2213211" cy="312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มาตรฐานการยกและเคลื่อนย้ายวัสดุด้วยแรงกายตามหลักการยศาสตร์ (Ergonomics Standard on Manual Materials Handling)">
            <a:extLst>
              <a:ext uri="{FF2B5EF4-FFF2-40B4-BE49-F238E27FC236}">
                <a16:creationId xmlns:a16="http://schemas.microsoft.com/office/drawing/2014/main" id="{C34CC349-B8BF-C97B-5A53-F611B1CCC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932" y="1642924"/>
            <a:ext cx="2213210" cy="3129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มาตรฐานการปฏิบัติงานคอมพิวเตอร์ตามหลักการยศาสตร์ (Ergonomics Standard on Working with Computer)">
            <a:extLst>
              <a:ext uri="{FF2B5EF4-FFF2-40B4-BE49-F238E27FC236}">
                <a16:creationId xmlns:a16="http://schemas.microsoft.com/office/drawing/2014/main" id="{1882D590-980D-9535-4A1F-4EC31543A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143" y="1621877"/>
            <a:ext cx="2213210" cy="3129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มาตรฐานการจัดการความปลอดภัยในการทำงานบนที่สูง (Safety Management on Working at Height Standard)">
            <a:extLst>
              <a:ext uri="{FF2B5EF4-FFF2-40B4-BE49-F238E27FC236}">
                <a16:creationId xmlns:a16="http://schemas.microsoft.com/office/drawing/2014/main" id="{BBEC97BA-2D60-3E7F-3542-685909349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3353" y="1621878"/>
            <a:ext cx="2213209" cy="3129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A4CD3383-00F8-19C6-AEEF-18C2579A6896}"/>
              </a:ext>
            </a:extLst>
          </p:cNvPr>
          <p:cNvSpPr txBox="1"/>
          <p:nvPr/>
        </p:nvSpPr>
        <p:spPr>
          <a:xfrm>
            <a:off x="391212" y="5096932"/>
            <a:ext cx="115949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Baijam" panose="02000506000000020004" pitchFamily="2" charset="-34"/>
                <a:cs typeface="TH Baijam" panose="02000506000000020004" pitchFamily="2" charset="-34"/>
                <a:hlinkClick r:id="rId7"/>
              </a:rPr>
              <a:t>https://www.tosh.or.th/index.php/tosh-news/tosh-promote/278-occupational-safety-and-health-standard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778638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206F74C-A036-2452-C75C-0747A56D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365125"/>
            <a:ext cx="10891887" cy="1325563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Q&amp;A</a:t>
            </a:r>
            <a:endParaRPr lang="th-TH" sz="7200" b="1" dirty="0">
              <a:solidFill>
                <a:srgbClr val="00B0F0"/>
              </a:solidFill>
              <a:latin typeface="TH Baijam" panose="02000506000000020004" pitchFamily="2" charset="-34"/>
              <a:cs typeface="TH Baijam" panose="02000506000000020004" pitchFamily="2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DE4CF6-FF45-0DE0-E766-D91ECBDE5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825625"/>
            <a:ext cx="11472421" cy="4351338"/>
          </a:xfrm>
        </p:spPr>
        <p:txBody>
          <a:bodyPr>
            <a:normAutofit/>
          </a:bodyPr>
          <a:lstStyle/>
          <a:p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954100240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1143</Words>
  <Application>Microsoft Office PowerPoint</Application>
  <PresentationFormat>Widescreen</PresentationFormat>
  <Paragraphs>123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Amasis MT Pro Black</vt:lpstr>
      <vt:lpstr>Aptos</vt:lpstr>
      <vt:lpstr>Aptos Display</vt:lpstr>
      <vt:lpstr>Aptos ExtraBold</vt:lpstr>
      <vt:lpstr>Arial</vt:lpstr>
      <vt:lpstr>Prompt</vt:lpstr>
      <vt:lpstr>TH Baijam</vt:lpstr>
      <vt:lpstr>Wingdings</vt:lpstr>
      <vt:lpstr>ธีมของ Office</vt:lpstr>
      <vt:lpstr>OCCUPATIONAL HEALTH AND SAFETY</vt:lpstr>
      <vt:lpstr>หน่วยที่ 1</vt:lpstr>
      <vt:lpstr>ความรู้ทั่วไปเกี่ยวกับการมีงานทำ</vt:lpstr>
      <vt:lpstr>วัตถุประสงค์ของงานชีวอนามัยและความปลอดภัยในที่ทำงาน</vt:lpstr>
      <vt:lpstr>คำศัพท์สำคัญที่ควรทราบ</vt:lpstr>
      <vt:lpstr>คำศัพท์สำคัญที่ควรทราบ</vt:lpstr>
      <vt:lpstr>คำศัพท์สำคัญที่ควรทราบ</vt:lpstr>
      <vt:lpstr>คำศัพท์สำคัญที่ควรทราบ</vt:lpstr>
      <vt:lpstr>องค์กรระดับโลกที่ดูแลงานชีวอนามัยและความปลอดภัย</vt:lpstr>
      <vt:lpstr>กิจกรรมงานชีวอนามัยและความปลอดภัยของ WHO และ ILO</vt:lpstr>
      <vt:lpstr>กิจกรรมงานชีวอนามัยและความปลอดภัยของ WHO และ ILO</vt:lpstr>
      <vt:lpstr>กิจกรรมงานชีวอนามัยและความปลอดภัยของ WHO และ ILO</vt:lpstr>
      <vt:lpstr>กิจกรรมงานชีวอนามัยและความปลอดภัยของ WHO และ ILO</vt:lpstr>
      <vt:lpstr>กิจกรรมงานชีวอนามัยและความปลอดภัยของ WHO และ ILO</vt:lpstr>
      <vt:lpstr>หน่วยงานที่เกี่ยวข้องกับมาตรฐานความปลอดภัย</vt:lpstr>
      <vt:lpstr>หน่วยงานที่เกี่ยวข้องกับมาตรฐานความปลอดภัย</vt:lpstr>
      <vt:lpstr>หน่วยงานที่เกี่ยวข้องกับมาตรฐานความปลอดภัย</vt:lpstr>
      <vt:lpstr>หน่วยงานที่เกี่ยวข้องกับมาตรฐานความปลอดภัย</vt:lpstr>
      <vt:lpstr>หน่วยงานที่เกี่ยวข้องกับมาตรฐานความปลอดภัย</vt:lpstr>
      <vt:lpstr>หน่วยงานที่เกี่ยวข้องกับมาตรฐานความปลอดภัย</vt:lpstr>
      <vt:lpstr>หน่วยงานที่เกี่ยวข้องกับมาตรฐานความปลอดภัย</vt:lpstr>
      <vt:lpstr>สถานการณ์ปัจจุบันเกี่ยวกับสุขภาพแรงงาน</vt:lpstr>
      <vt:lpstr>ประโยชน์ที่ได้รับจากการทำงานอย่างปลอดภัย</vt:lpstr>
      <vt:lpstr>ประโยชน์ที่ได้รับจากการทำงานอย่างปลอดภัย</vt:lpstr>
      <vt:lpstr>ประโยชน์ที่ได้รับจากการทำงานอย่างปลอดภัย</vt:lpstr>
      <vt:lpstr>คุณภาพชีวิตในการทำงาน</vt:lpstr>
      <vt:lpstr>คุณภาพชีวิตในการทำงาน</vt:lpstr>
      <vt:lpstr>เทคนิคและมาตรฐานที่เกี่ยวข้องกับความปลอดภัย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Koson Trachu</dc:creator>
  <cp:lastModifiedBy>Koson Trachu</cp:lastModifiedBy>
  <cp:revision>2</cp:revision>
  <dcterms:created xsi:type="dcterms:W3CDTF">2024-06-30T14:39:21Z</dcterms:created>
  <dcterms:modified xsi:type="dcterms:W3CDTF">2025-08-01T06:30:39Z</dcterms:modified>
</cp:coreProperties>
</file>